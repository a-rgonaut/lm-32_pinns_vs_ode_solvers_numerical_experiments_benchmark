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24"/>
  </p:notesMasterIdLst>
  <p:sldIdLst>
    <p:sldId id="256" r:id="rId2"/>
    <p:sldId id="257" r:id="rId3"/>
    <p:sldId id="260" r:id="rId4"/>
    <p:sldId id="258" r:id="rId5"/>
    <p:sldId id="261" r:id="rId6"/>
    <p:sldId id="262" r:id="rId7"/>
    <p:sldId id="263" r:id="rId8"/>
    <p:sldId id="264" r:id="rId9"/>
    <p:sldId id="268" r:id="rId10"/>
    <p:sldId id="270" r:id="rId11"/>
    <p:sldId id="265" r:id="rId12"/>
    <p:sldId id="266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80" r:id="rId21"/>
    <p:sldId id="281" r:id="rId22"/>
    <p:sldId id="279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8B95A6-F268-4351-B60C-FDE07E3EC947}" type="datetimeFigureOut">
              <a:rPr lang="it-IT" smtClean="0"/>
              <a:t>04/12/2025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95D248-3670-4069-BE85-AC289AA6A97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575600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794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422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1868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956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587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833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054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2254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994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423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570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5295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88" r:id="rId2"/>
    <p:sldLayoutId id="2147483687" r:id="rId3"/>
    <p:sldLayoutId id="2147483686" r:id="rId4"/>
    <p:sldLayoutId id="2147483685" r:id="rId5"/>
    <p:sldLayoutId id="2147483684" r:id="rId6"/>
    <p:sldLayoutId id="2147483683" r:id="rId7"/>
    <p:sldLayoutId id="2147483682" r:id="rId8"/>
    <p:sldLayoutId id="2147483681" r:id="rId9"/>
    <p:sldLayoutId id="2147483680" r:id="rId10"/>
    <p:sldLayoutId id="2147483679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7" Type="http://schemas.openxmlformats.org/officeDocument/2006/relationships/image" Target="../media/image2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Straight Connector 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0" name="Rectangle 11">
            <a:extLst>
              <a:ext uri="{FF2B5EF4-FFF2-40B4-BE49-F238E27FC236}">
                <a16:creationId xmlns:a16="http://schemas.microsoft.com/office/drawing/2014/main" id="{149F9F0F-FB8C-5565-247C-BDCC156B5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Rectangle 13">
            <a:extLst>
              <a:ext uri="{FF2B5EF4-FFF2-40B4-BE49-F238E27FC236}">
                <a16:creationId xmlns:a16="http://schemas.microsoft.com/office/drawing/2014/main" id="{ABA4FDDF-F59C-428B-8603-3A86D75931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1C7AAC79-403D-95D5-0DDB-3CDD63DF84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7708" y="1862101"/>
            <a:ext cx="5532904" cy="3064108"/>
          </a:xfrm>
          <a:prstGeom prst="rect">
            <a:avLst/>
          </a:prstGeom>
          <a:ln>
            <a:noFill/>
          </a:ln>
        </p:spPr>
      </p:pic>
      <p:cxnSp>
        <p:nvCxnSpPr>
          <p:cNvPr id="25" name="Connettore diritto 24">
            <a:extLst>
              <a:ext uri="{FF2B5EF4-FFF2-40B4-BE49-F238E27FC236}">
                <a16:creationId xmlns:a16="http://schemas.microsoft.com/office/drawing/2014/main" id="{26081F0C-D1F0-EDFC-3385-E290227D17D9}"/>
              </a:ext>
            </a:extLst>
          </p:cNvPr>
          <p:cNvCxnSpPr>
            <a:cxnSpLocks/>
          </p:cNvCxnSpPr>
          <p:nvPr/>
        </p:nvCxnSpPr>
        <p:spPr>
          <a:xfrm>
            <a:off x="6116320" y="1842552"/>
            <a:ext cx="0" cy="317289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F20F5F93-B4FC-4751-57F8-0B366E55E289}"/>
              </a:ext>
            </a:extLst>
          </p:cNvPr>
          <p:cNvSpPr txBox="1"/>
          <p:nvPr/>
        </p:nvSpPr>
        <p:spPr>
          <a:xfrm>
            <a:off x="359215" y="1901438"/>
            <a:ext cx="539789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b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PINNs</a:t>
            </a:r>
            <a:r>
              <a:rPr lang="it-IT" sz="32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vs ODE </a:t>
            </a:r>
            <a:r>
              <a:rPr lang="it-IT" sz="3200" b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Solvers</a:t>
            </a:r>
            <a:r>
              <a:rPr lang="it-IT" sz="32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3200" b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Numerical</a:t>
            </a:r>
            <a:r>
              <a:rPr lang="it-IT" sz="32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3200" b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Experiments</a:t>
            </a:r>
            <a:r>
              <a:rPr lang="it-IT" sz="32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Benchmark</a:t>
            </a:r>
          </a:p>
          <a:p>
            <a:pPr algn="ctr"/>
            <a:endParaRPr lang="it-IT" sz="3200" b="1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it-IT" sz="24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Metodi Numerici Avanzati</a:t>
            </a:r>
          </a:p>
          <a:p>
            <a:pPr algn="ctr"/>
            <a:endParaRPr lang="it-IT" sz="2400" b="1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it-IT" sz="24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Andrea Spinelli</a:t>
            </a:r>
          </a:p>
        </p:txBody>
      </p:sp>
      <p:cxnSp>
        <p:nvCxnSpPr>
          <p:cNvPr id="44" name="Connettore diritto 43">
            <a:extLst>
              <a:ext uri="{FF2B5EF4-FFF2-40B4-BE49-F238E27FC236}">
                <a16:creationId xmlns:a16="http://schemas.microsoft.com/office/drawing/2014/main" id="{B746C652-6DCC-3867-84C0-E53037E9189A}"/>
              </a:ext>
            </a:extLst>
          </p:cNvPr>
          <p:cNvCxnSpPr>
            <a:cxnSpLocks/>
          </p:cNvCxnSpPr>
          <p:nvPr/>
        </p:nvCxnSpPr>
        <p:spPr>
          <a:xfrm>
            <a:off x="0" y="6482080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8" name="Connettore diritto 47">
            <a:extLst>
              <a:ext uri="{FF2B5EF4-FFF2-40B4-BE49-F238E27FC236}">
                <a16:creationId xmlns:a16="http://schemas.microsoft.com/office/drawing/2014/main" id="{A6B953B4-662A-8705-26B4-23D59ACC51D5}"/>
              </a:ext>
            </a:extLst>
          </p:cNvPr>
          <p:cNvCxnSpPr>
            <a:cxnSpLocks/>
          </p:cNvCxnSpPr>
          <p:nvPr/>
        </p:nvCxnSpPr>
        <p:spPr>
          <a:xfrm>
            <a:off x="8592000" y="6482080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0" name="Connettore diritto 49">
            <a:extLst>
              <a:ext uri="{FF2B5EF4-FFF2-40B4-BE49-F238E27FC236}">
                <a16:creationId xmlns:a16="http://schemas.microsoft.com/office/drawing/2014/main" id="{AC1B717F-B3A6-FA6C-0912-A6D0BCD7CB6F}"/>
              </a:ext>
            </a:extLst>
          </p:cNvPr>
          <p:cNvCxnSpPr>
            <a:cxnSpLocks/>
          </p:cNvCxnSpPr>
          <p:nvPr/>
        </p:nvCxnSpPr>
        <p:spPr>
          <a:xfrm>
            <a:off x="0" y="375919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1" name="Connettore diritto 50">
            <a:extLst>
              <a:ext uri="{FF2B5EF4-FFF2-40B4-BE49-F238E27FC236}">
                <a16:creationId xmlns:a16="http://schemas.microsoft.com/office/drawing/2014/main" id="{DDDB64F9-2ADA-8FEC-BEA0-4A80DD8901AB}"/>
              </a:ext>
            </a:extLst>
          </p:cNvPr>
          <p:cNvCxnSpPr>
            <a:cxnSpLocks/>
          </p:cNvCxnSpPr>
          <p:nvPr/>
        </p:nvCxnSpPr>
        <p:spPr>
          <a:xfrm>
            <a:off x="8592000" y="375919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3" name="CasellaDiTesto 52">
            <a:extLst>
              <a:ext uri="{FF2B5EF4-FFF2-40B4-BE49-F238E27FC236}">
                <a16:creationId xmlns:a16="http://schemas.microsoft.com/office/drawing/2014/main" id="{F3784D08-A4D7-88C3-3510-4ACC3F73AE1F}"/>
              </a:ext>
            </a:extLst>
          </p:cNvPr>
          <p:cNvSpPr txBox="1"/>
          <p:nvPr/>
        </p:nvSpPr>
        <p:spPr>
          <a:xfrm>
            <a:off x="8310452" y="-6587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</p:txBody>
      </p:sp>
      <p:sp>
        <p:nvSpPr>
          <p:cNvPr id="54" name="CasellaDiTesto 53">
            <a:extLst>
              <a:ext uri="{FF2B5EF4-FFF2-40B4-BE49-F238E27FC236}">
                <a16:creationId xmlns:a16="http://schemas.microsoft.com/office/drawing/2014/main" id="{6F9503CC-3F9E-9839-0F24-32D47F1CC0AB}"/>
              </a:ext>
            </a:extLst>
          </p:cNvPr>
          <p:cNvSpPr txBox="1"/>
          <p:nvPr/>
        </p:nvSpPr>
        <p:spPr>
          <a:xfrm>
            <a:off x="281549" y="6482080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</p:txBody>
      </p:sp>
      <p:sp>
        <p:nvSpPr>
          <p:cNvPr id="55" name="CasellaDiTesto 54">
            <a:extLst>
              <a:ext uri="{FF2B5EF4-FFF2-40B4-BE49-F238E27FC236}">
                <a16:creationId xmlns:a16="http://schemas.microsoft.com/office/drawing/2014/main" id="{42ADCDE2-90D1-2D69-BC0A-6163BBE8CF50}"/>
              </a:ext>
            </a:extLst>
          </p:cNvPr>
          <p:cNvSpPr txBox="1"/>
          <p:nvPr/>
        </p:nvSpPr>
        <p:spPr>
          <a:xfrm>
            <a:off x="281549" y="-6587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36296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9">
            <a:extLst>
              <a:ext uri="{FF2B5EF4-FFF2-40B4-BE49-F238E27FC236}">
                <a16:creationId xmlns:a16="http://schemas.microsoft.com/office/drawing/2014/main" id="{E61D668D-030A-DEC2-C360-779E144B0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" name="Rectangle 11">
            <a:extLst>
              <a:ext uri="{FF2B5EF4-FFF2-40B4-BE49-F238E27FC236}">
                <a16:creationId xmlns:a16="http://schemas.microsoft.com/office/drawing/2014/main" id="{A86CC99C-01AE-E0B0-026C-EB8C4569A0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" name="Rectangle 13">
            <a:extLst>
              <a:ext uri="{FF2B5EF4-FFF2-40B4-BE49-F238E27FC236}">
                <a16:creationId xmlns:a16="http://schemas.microsoft.com/office/drawing/2014/main" id="{E1AC2EC7-DC49-3936-796D-A2F52FF660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B9C9FB01-EE2F-7148-72C8-C97235784F93}"/>
              </a:ext>
            </a:extLst>
          </p:cNvPr>
          <p:cNvCxnSpPr>
            <a:cxnSpLocks/>
          </p:cNvCxnSpPr>
          <p:nvPr/>
        </p:nvCxnSpPr>
        <p:spPr>
          <a:xfrm>
            <a:off x="0" y="6482080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4BC959C0-CFC7-15F6-801A-EA9243CFFF08}"/>
              </a:ext>
            </a:extLst>
          </p:cNvPr>
          <p:cNvCxnSpPr>
            <a:cxnSpLocks/>
          </p:cNvCxnSpPr>
          <p:nvPr/>
        </p:nvCxnSpPr>
        <p:spPr>
          <a:xfrm>
            <a:off x="8592000" y="6482080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0078B3A5-7445-2A8C-9B9F-29A66CE401EE}"/>
              </a:ext>
            </a:extLst>
          </p:cNvPr>
          <p:cNvCxnSpPr>
            <a:cxnSpLocks/>
          </p:cNvCxnSpPr>
          <p:nvPr/>
        </p:nvCxnSpPr>
        <p:spPr>
          <a:xfrm>
            <a:off x="0" y="375919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77E794EB-B342-9BEC-7A48-33802A61116C}"/>
              </a:ext>
            </a:extLst>
          </p:cNvPr>
          <p:cNvCxnSpPr>
            <a:cxnSpLocks/>
          </p:cNvCxnSpPr>
          <p:nvPr/>
        </p:nvCxnSpPr>
        <p:spPr>
          <a:xfrm>
            <a:off x="8592000" y="375919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8BBAA07B-0FA7-7808-5DE9-C461F941BA26}"/>
              </a:ext>
            </a:extLst>
          </p:cNvPr>
          <p:cNvSpPr txBox="1"/>
          <p:nvPr/>
        </p:nvSpPr>
        <p:spPr>
          <a:xfrm>
            <a:off x="281549" y="6488668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9184B41C-FB0E-F047-AAA9-B3C3BF283F5A}"/>
              </a:ext>
            </a:extLst>
          </p:cNvPr>
          <p:cNvSpPr txBox="1"/>
          <p:nvPr/>
        </p:nvSpPr>
        <p:spPr>
          <a:xfrm>
            <a:off x="8310452" y="6488668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Andrea Spinelli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899F169A-DDFC-1D08-3379-E17654DE8D42}"/>
              </a:ext>
            </a:extLst>
          </p:cNvPr>
          <p:cNvSpPr txBox="1"/>
          <p:nvPr/>
        </p:nvSpPr>
        <p:spPr>
          <a:xfrm>
            <a:off x="281548" y="751839"/>
            <a:ext cx="116289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8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Indice</a:t>
            </a:r>
            <a:endParaRPr lang="it-IT" sz="2000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Ovale 8">
            <a:extLst>
              <a:ext uri="{FF2B5EF4-FFF2-40B4-BE49-F238E27FC236}">
                <a16:creationId xmlns:a16="http://schemas.microsoft.com/office/drawing/2014/main" id="{6E8D86B6-BEFE-4BFD-DC9C-4DA93BFFCA10}"/>
              </a:ext>
            </a:extLst>
          </p:cNvPr>
          <p:cNvSpPr/>
          <p:nvPr/>
        </p:nvSpPr>
        <p:spPr>
          <a:xfrm>
            <a:off x="1692094" y="1971930"/>
            <a:ext cx="477312" cy="477312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</a:p>
        </p:txBody>
      </p:sp>
      <p:sp>
        <p:nvSpPr>
          <p:cNvPr id="10" name="Ovale 9">
            <a:extLst>
              <a:ext uri="{FF2B5EF4-FFF2-40B4-BE49-F238E27FC236}">
                <a16:creationId xmlns:a16="http://schemas.microsoft.com/office/drawing/2014/main" id="{8DA08FA4-424D-DE32-D826-CEC6E91F4C52}"/>
              </a:ext>
            </a:extLst>
          </p:cNvPr>
          <p:cNvSpPr/>
          <p:nvPr/>
        </p:nvSpPr>
        <p:spPr>
          <a:xfrm>
            <a:off x="1692094" y="3249580"/>
            <a:ext cx="477312" cy="477312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</a:p>
        </p:txBody>
      </p:sp>
      <p:sp>
        <p:nvSpPr>
          <p:cNvPr id="12" name="Ovale 11">
            <a:extLst>
              <a:ext uri="{FF2B5EF4-FFF2-40B4-BE49-F238E27FC236}">
                <a16:creationId xmlns:a16="http://schemas.microsoft.com/office/drawing/2014/main" id="{6CA64B57-4F5F-0D71-F534-D27479A64DA0}"/>
              </a:ext>
            </a:extLst>
          </p:cNvPr>
          <p:cNvSpPr/>
          <p:nvPr/>
        </p:nvSpPr>
        <p:spPr>
          <a:xfrm>
            <a:off x="1692094" y="4527230"/>
            <a:ext cx="477312" cy="477312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</a:p>
        </p:txBody>
      </p:sp>
      <p:sp>
        <p:nvSpPr>
          <p:cNvPr id="17" name="Ovale 16">
            <a:extLst>
              <a:ext uri="{FF2B5EF4-FFF2-40B4-BE49-F238E27FC236}">
                <a16:creationId xmlns:a16="http://schemas.microsoft.com/office/drawing/2014/main" id="{57094D09-5F64-6773-8403-AF04D15141E1}"/>
              </a:ext>
            </a:extLst>
          </p:cNvPr>
          <p:cNvSpPr/>
          <p:nvPr/>
        </p:nvSpPr>
        <p:spPr>
          <a:xfrm>
            <a:off x="6096000" y="1971930"/>
            <a:ext cx="477312" cy="477312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4</a:t>
            </a:r>
          </a:p>
        </p:txBody>
      </p:sp>
      <p:sp>
        <p:nvSpPr>
          <p:cNvPr id="19" name="Ovale 18">
            <a:extLst>
              <a:ext uri="{FF2B5EF4-FFF2-40B4-BE49-F238E27FC236}">
                <a16:creationId xmlns:a16="http://schemas.microsoft.com/office/drawing/2014/main" id="{87D4363A-AC0C-AE6F-C17B-3BA3DC782F59}"/>
              </a:ext>
            </a:extLst>
          </p:cNvPr>
          <p:cNvSpPr/>
          <p:nvPr/>
        </p:nvSpPr>
        <p:spPr>
          <a:xfrm>
            <a:off x="6096000" y="3249580"/>
            <a:ext cx="477312" cy="477312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5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AA6372B5-94B1-3091-130F-650DB18B565C}"/>
              </a:ext>
            </a:extLst>
          </p:cNvPr>
          <p:cNvSpPr txBox="1"/>
          <p:nvPr/>
        </p:nvSpPr>
        <p:spPr>
          <a:xfrm>
            <a:off x="2261368" y="1971930"/>
            <a:ext cx="3200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Introduzione</a:t>
            </a:r>
            <a:endParaRPr lang="it-IT" sz="1050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EAA8F27D-A5A5-1C4C-6640-B9DEEC741FE2}"/>
              </a:ext>
            </a:extLst>
          </p:cNvPr>
          <p:cNvSpPr txBox="1"/>
          <p:nvPr/>
        </p:nvSpPr>
        <p:spPr>
          <a:xfrm>
            <a:off x="2261368" y="3249580"/>
            <a:ext cx="3200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Background</a:t>
            </a:r>
            <a:endParaRPr lang="it-IT" sz="1050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B0806B0F-0C03-D9F3-0055-566409E21625}"/>
              </a:ext>
            </a:extLst>
          </p:cNvPr>
          <p:cNvSpPr txBox="1"/>
          <p:nvPr/>
        </p:nvSpPr>
        <p:spPr>
          <a:xfrm>
            <a:off x="2261368" y="4527230"/>
            <a:ext cx="3200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Metodologia</a:t>
            </a:r>
            <a:endParaRPr lang="it-IT" sz="1050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D4A04ED0-64C0-8FBB-3A91-296CBF44701B}"/>
              </a:ext>
            </a:extLst>
          </p:cNvPr>
          <p:cNvSpPr txBox="1"/>
          <p:nvPr/>
        </p:nvSpPr>
        <p:spPr>
          <a:xfrm>
            <a:off x="6670844" y="1971929"/>
            <a:ext cx="3200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Risultati</a:t>
            </a:r>
            <a:endParaRPr lang="it-IT" sz="1050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CC7412FB-7226-146F-8267-CD37E496E676}"/>
              </a:ext>
            </a:extLst>
          </p:cNvPr>
          <p:cNvSpPr txBox="1"/>
          <p:nvPr/>
        </p:nvSpPr>
        <p:spPr>
          <a:xfrm>
            <a:off x="6670844" y="3249579"/>
            <a:ext cx="3200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Conclusioni</a:t>
            </a:r>
            <a:endParaRPr lang="it-IT" sz="1050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0130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Straight Connector 9">
            <a:extLst>
              <a:ext uri="{FF2B5EF4-FFF2-40B4-BE49-F238E27FC236}">
                <a16:creationId xmlns:a16="http://schemas.microsoft.com/office/drawing/2014/main" id="{54E2413D-AE79-08F7-29EF-4FE418959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0" name="Rectangle 11">
            <a:extLst>
              <a:ext uri="{FF2B5EF4-FFF2-40B4-BE49-F238E27FC236}">
                <a16:creationId xmlns:a16="http://schemas.microsoft.com/office/drawing/2014/main" id="{C455BF80-5BFE-CEB9-9454-4D3AE1633F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1" name="Rectangle 13">
            <a:extLst>
              <a:ext uri="{FF2B5EF4-FFF2-40B4-BE49-F238E27FC236}">
                <a16:creationId xmlns:a16="http://schemas.microsoft.com/office/drawing/2014/main" id="{AB90E60A-5DBE-993D-EBF5-9883647E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Immagine 31">
            <a:extLst>
              <a:ext uri="{FF2B5EF4-FFF2-40B4-BE49-F238E27FC236}">
                <a16:creationId xmlns:a16="http://schemas.microsoft.com/office/drawing/2014/main" id="{7D9D449F-193E-AB2F-D482-22EEEBD61D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7708" y="1862101"/>
            <a:ext cx="5532904" cy="3064108"/>
          </a:xfrm>
          <a:prstGeom prst="rect">
            <a:avLst/>
          </a:prstGeom>
          <a:ln>
            <a:noFill/>
          </a:ln>
        </p:spPr>
      </p:pic>
      <p:cxnSp>
        <p:nvCxnSpPr>
          <p:cNvPr id="33" name="Connettore diritto 32">
            <a:extLst>
              <a:ext uri="{FF2B5EF4-FFF2-40B4-BE49-F238E27FC236}">
                <a16:creationId xmlns:a16="http://schemas.microsoft.com/office/drawing/2014/main" id="{04508C30-5185-C7F0-8EA3-D813365CE60E}"/>
              </a:ext>
            </a:extLst>
          </p:cNvPr>
          <p:cNvCxnSpPr>
            <a:cxnSpLocks/>
          </p:cNvCxnSpPr>
          <p:nvPr/>
        </p:nvCxnSpPr>
        <p:spPr>
          <a:xfrm>
            <a:off x="6116320" y="1842552"/>
            <a:ext cx="0" cy="317289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6B70CEED-B803-F689-6595-E94352700178}"/>
              </a:ext>
            </a:extLst>
          </p:cNvPr>
          <p:cNvSpPr txBox="1"/>
          <p:nvPr/>
        </p:nvSpPr>
        <p:spPr>
          <a:xfrm>
            <a:off x="359215" y="1901438"/>
            <a:ext cx="5397890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b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PINNs</a:t>
            </a:r>
            <a:r>
              <a:rPr lang="it-IT" sz="32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vs ODE </a:t>
            </a:r>
            <a:r>
              <a:rPr lang="it-IT" sz="3200" b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Solvers</a:t>
            </a:r>
            <a:r>
              <a:rPr lang="it-IT" sz="32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3200" b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Numerical</a:t>
            </a:r>
            <a:r>
              <a:rPr lang="it-IT" sz="32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3200" b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Experiments</a:t>
            </a:r>
            <a:r>
              <a:rPr lang="it-IT" sz="32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Benchmark</a:t>
            </a:r>
          </a:p>
          <a:p>
            <a:pPr algn="ctr"/>
            <a:endParaRPr lang="it-IT" sz="3200" b="1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it-IT" sz="24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1.	Introduzione</a:t>
            </a:r>
            <a:endParaRPr lang="it-IT" sz="2400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35" name="Connettore diritto 34">
            <a:extLst>
              <a:ext uri="{FF2B5EF4-FFF2-40B4-BE49-F238E27FC236}">
                <a16:creationId xmlns:a16="http://schemas.microsoft.com/office/drawing/2014/main" id="{0ED5467A-4913-C8A5-B6A2-8148B248D015}"/>
              </a:ext>
            </a:extLst>
          </p:cNvPr>
          <p:cNvCxnSpPr>
            <a:cxnSpLocks/>
          </p:cNvCxnSpPr>
          <p:nvPr/>
        </p:nvCxnSpPr>
        <p:spPr>
          <a:xfrm>
            <a:off x="0" y="6482080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6" name="Connettore diritto 35">
            <a:extLst>
              <a:ext uri="{FF2B5EF4-FFF2-40B4-BE49-F238E27FC236}">
                <a16:creationId xmlns:a16="http://schemas.microsoft.com/office/drawing/2014/main" id="{6CEFA678-8339-77B5-5316-DDB856BF4487}"/>
              </a:ext>
            </a:extLst>
          </p:cNvPr>
          <p:cNvCxnSpPr>
            <a:cxnSpLocks/>
          </p:cNvCxnSpPr>
          <p:nvPr/>
        </p:nvCxnSpPr>
        <p:spPr>
          <a:xfrm>
            <a:off x="8592000" y="6482080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7" name="Connettore diritto 36">
            <a:extLst>
              <a:ext uri="{FF2B5EF4-FFF2-40B4-BE49-F238E27FC236}">
                <a16:creationId xmlns:a16="http://schemas.microsoft.com/office/drawing/2014/main" id="{EA2184DE-1572-D2C8-B202-DDD089F796D9}"/>
              </a:ext>
            </a:extLst>
          </p:cNvPr>
          <p:cNvCxnSpPr>
            <a:cxnSpLocks/>
          </p:cNvCxnSpPr>
          <p:nvPr/>
        </p:nvCxnSpPr>
        <p:spPr>
          <a:xfrm>
            <a:off x="0" y="375919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8" name="Connettore diritto 37">
            <a:extLst>
              <a:ext uri="{FF2B5EF4-FFF2-40B4-BE49-F238E27FC236}">
                <a16:creationId xmlns:a16="http://schemas.microsoft.com/office/drawing/2014/main" id="{565A193A-C5B5-E638-A356-05D3A08FD32C}"/>
              </a:ext>
            </a:extLst>
          </p:cNvPr>
          <p:cNvCxnSpPr>
            <a:cxnSpLocks/>
          </p:cNvCxnSpPr>
          <p:nvPr/>
        </p:nvCxnSpPr>
        <p:spPr>
          <a:xfrm>
            <a:off x="8592000" y="375919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784BCC72-45E6-BE83-2DB8-2819A56FFB9D}"/>
              </a:ext>
            </a:extLst>
          </p:cNvPr>
          <p:cNvSpPr txBox="1"/>
          <p:nvPr/>
        </p:nvSpPr>
        <p:spPr>
          <a:xfrm>
            <a:off x="8310452" y="-6587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</p:txBody>
      </p:sp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D860E745-4D0E-77D0-7005-47C0BB701D9B}"/>
              </a:ext>
            </a:extLst>
          </p:cNvPr>
          <p:cNvSpPr txBox="1"/>
          <p:nvPr/>
        </p:nvSpPr>
        <p:spPr>
          <a:xfrm>
            <a:off x="281549" y="6482080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</p:txBody>
      </p: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A83A38CE-83EA-0B02-8A7A-F34B734328F3}"/>
              </a:ext>
            </a:extLst>
          </p:cNvPr>
          <p:cNvSpPr txBox="1"/>
          <p:nvPr/>
        </p:nvSpPr>
        <p:spPr>
          <a:xfrm>
            <a:off x="281549" y="-6587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937934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F08F5-B363-2A49-53CF-2DD387A78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9">
            <a:extLst>
              <a:ext uri="{FF2B5EF4-FFF2-40B4-BE49-F238E27FC236}">
                <a16:creationId xmlns:a16="http://schemas.microsoft.com/office/drawing/2014/main" id="{09625CBB-8430-3111-7F8F-48B6439A6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" name="Rectangle 11">
            <a:extLst>
              <a:ext uri="{FF2B5EF4-FFF2-40B4-BE49-F238E27FC236}">
                <a16:creationId xmlns:a16="http://schemas.microsoft.com/office/drawing/2014/main" id="{863F1E7C-5499-8ECB-6EA5-D2188B995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" name="Rectangle 13">
            <a:extLst>
              <a:ext uri="{FF2B5EF4-FFF2-40B4-BE49-F238E27FC236}">
                <a16:creationId xmlns:a16="http://schemas.microsoft.com/office/drawing/2014/main" id="{0C087512-689F-51E5-369A-4FEC32DBC5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A0DCA99E-AB1D-BF89-42F9-2D0D3FA75048}"/>
              </a:ext>
            </a:extLst>
          </p:cNvPr>
          <p:cNvCxnSpPr>
            <a:cxnSpLocks/>
          </p:cNvCxnSpPr>
          <p:nvPr/>
        </p:nvCxnSpPr>
        <p:spPr>
          <a:xfrm>
            <a:off x="0" y="6482080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4E88FB93-9CC4-B9D6-0A87-736E39CA29FB}"/>
              </a:ext>
            </a:extLst>
          </p:cNvPr>
          <p:cNvCxnSpPr>
            <a:cxnSpLocks/>
          </p:cNvCxnSpPr>
          <p:nvPr/>
        </p:nvCxnSpPr>
        <p:spPr>
          <a:xfrm>
            <a:off x="8592000" y="6482080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EA13BC75-8C6E-BEF3-A577-B843A1C51F18}"/>
              </a:ext>
            </a:extLst>
          </p:cNvPr>
          <p:cNvCxnSpPr>
            <a:cxnSpLocks/>
          </p:cNvCxnSpPr>
          <p:nvPr/>
        </p:nvCxnSpPr>
        <p:spPr>
          <a:xfrm>
            <a:off x="0" y="375919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53AB085E-C341-D167-D2A6-DB51B0B9ECF8}"/>
              </a:ext>
            </a:extLst>
          </p:cNvPr>
          <p:cNvCxnSpPr>
            <a:cxnSpLocks/>
          </p:cNvCxnSpPr>
          <p:nvPr/>
        </p:nvCxnSpPr>
        <p:spPr>
          <a:xfrm>
            <a:off x="8592000" y="375919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861EAABE-8A88-286A-4C9D-CE266EFC98E0}"/>
              </a:ext>
            </a:extLst>
          </p:cNvPr>
          <p:cNvSpPr txBox="1"/>
          <p:nvPr/>
        </p:nvSpPr>
        <p:spPr>
          <a:xfrm>
            <a:off x="281549" y="6488668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31CD9439-E398-D912-A137-DF5EAE2C9420}"/>
              </a:ext>
            </a:extLst>
          </p:cNvPr>
          <p:cNvSpPr txBox="1"/>
          <p:nvPr/>
        </p:nvSpPr>
        <p:spPr>
          <a:xfrm>
            <a:off x="8310452" y="6488668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Andrea Spinelli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F1FE7CFF-07B4-BDE4-0C45-34EE1A25055C}"/>
              </a:ext>
            </a:extLst>
          </p:cNvPr>
          <p:cNvSpPr txBox="1"/>
          <p:nvPr/>
        </p:nvSpPr>
        <p:spPr>
          <a:xfrm>
            <a:off x="8310452" y="-6587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Background e Motivazioni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25ADA732-509A-9EA7-21E0-095E5EDDEA25}"/>
              </a:ext>
            </a:extLst>
          </p:cNvPr>
          <p:cNvSpPr txBox="1"/>
          <p:nvPr/>
        </p:nvSpPr>
        <p:spPr>
          <a:xfrm>
            <a:off x="281549" y="-6587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Introduzione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12627B91-22C7-CAF1-4706-9ACD92D0EAC8}"/>
              </a:ext>
            </a:extLst>
          </p:cNvPr>
          <p:cNvSpPr txBox="1"/>
          <p:nvPr/>
        </p:nvSpPr>
        <p:spPr>
          <a:xfrm>
            <a:off x="833119" y="738663"/>
            <a:ext cx="5862321" cy="5463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Le </a:t>
            </a:r>
            <a:r>
              <a:rPr lang="it-IT" sz="16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equazioni differenziali ordinarie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it-IT" sz="16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ODE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 costituiscono la spina dorsale della modellazione matematica in innumerevoli discipline scientifiche e ingegneristiche.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Esse descrivono l’</a:t>
            </a:r>
            <a:r>
              <a:rPr lang="it-IT" sz="16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evoluzione temporale 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dei sistemi dinamici (in particolare quelli non lineari), permettendo di prevederne il comportamento a partire da un insieme di </a:t>
            </a:r>
            <a:r>
              <a:rPr lang="it-IT" sz="16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condizioni iniziali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La loro robustezza, accuratezza e solide garanzie teoriche sulla convergenza, hanno rappresentato lo standard de facto per l’approssimazione di ODE.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it-IT" sz="1600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Gli approcci «mesh-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based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» degli ODE, tuttavia, presentano alcune limitazioni intrinseche:</a:t>
            </a:r>
          </a:p>
          <a:p>
            <a:pPr marL="742950" lvl="1" indent="-285750" algn="just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Discretizzazione del dominio spazio-temporale</a:t>
            </a:r>
          </a:p>
          <a:p>
            <a:pPr marL="742950" lvl="1" indent="-285750" algn="just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Problemi di ottimizzazione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it-IT" sz="1600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Un nuovo paradigma emergente: le </a:t>
            </a:r>
            <a:r>
              <a:rPr lang="it-IT" sz="1600" b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Physical-Informed</a:t>
            </a:r>
            <a:r>
              <a:rPr lang="it-IT" sz="16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b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Neural</a:t>
            </a:r>
            <a:r>
              <a:rPr lang="it-IT" sz="16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Network 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it-IT" sz="16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PINN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pPr algn="just">
              <a:spcAft>
                <a:spcPts val="600"/>
              </a:spcAft>
            </a:pPr>
            <a:endParaRPr lang="it-IT" sz="1600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09843485-D698-96B7-57DF-B67191109D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7761" y="1430401"/>
            <a:ext cx="4351120" cy="383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874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3DBB0-E97B-78CA-4005-F2A8E07AB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9">
            <a:extLst>
              <a:ext uri="{FF2B5EF4-FFF2-40B4-BE49-F238E27FC236}">
                <a16:creationId xmlns:a16="http://schemas.microsoft.com/office/drawing/2014/main" id="{9A851FB8-8DB4-33B2-406C-DEC45926F3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" name="Rectangle 11">
            <a:extLst>
              <a:ext uri="{FF2B5EF4-FFF2-40B4-BE49-F238E27FC236}">
                <a16:creationId xmlns:a16="http://schemas.microsoft.com/office/drawing/2014/main" id="{C11F21F7-2E2C-6957-BC78-9E05CE4BA0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" name="Rectangle 13">
            <a:extLst>
              <a:ext uri="{FF2B5EF4-FFF2-40B4-BE49-F238E27FC236}">
                <a16:creationId xmlns:a16="http://schemas.microsoft.com/office/drawing/2014/main" id="{81EB174E-0771-0BF7-DC0E-B5D03C8500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6276A93D-A08A-B964-5EB8-F7270FEC3027}"/>
              </a:ext>
            </a:extLst>
          </p:cNvPr>
          <p:cNvCxnSpPr>
            <a:cxnSpLocks/>
          </p:cNvCxnSpPr>
          <p:nvPr/>
        </p:nvCxnSpPr>
        <p:spPr>
          <a:xfrm>
            <a:off x="0" y="6482080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4A419A3D-2F1C-7B34-4E75-462FDA3C8C55}"/>
              </a:ext>
            </a:extLst>
          </p:cNvPr>
          <p:cNvCxnSpPr>
            <a:cxnSpLocks/>
          </p:cNvCxnSpPr>
          <p:nvPr/>
        </p:nvCxnSpPr>
        <p:spPr>
          <a:xfrm>
            <a:off x="8592000" y="6482080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1F603630-8460-9AD5-4CD3-F3A9A1FBC1ED}"/>
              </a:ext>
            </a:extLst>
          </p:cNvPr>
          <p:cNvCxnSpPr>
            <a:cxnSpLocks/>
          </p:cNvCxnSpPr>
          <p:nvPr/>
        </p:nvCxnSpPr>
        <p:spPr>
          <a:xfrm>
            <a:off x="0" y="375919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AB4D9BBA-C39D-7223-EB51-ECB003CE5948}"/>
              </a:ext>
            </a:extLst>
          </p:cNvPr>
          <p:cNvCxnSpPr>
            <a:cxnSpLocks/>
          </p:cNvCxnSpPr>
          <p:nvPr/>
        </p:nvCxnSpPr>
        <p:spPr>
          <a:xfrm>
            <a:off x="8592000" y="375919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E10F7699-A6DF-AA83-C1E9-949076F32BCB}"/>
              </a:ext>
            </a:extLst>
          </p:cNvPr>
          <p:cNvSpPr txBox="1"/>
          <p:nvPr/>
        </p:nvSpPr>
        <p:spPr>
          <a:xfrm>
            <a:off x="281549" y="6488668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4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8E8C7D39-D421-D43A-159E-ABE7C26A414E}"/>
              </a:ext>
            </a:extLst>
          </p:cNvPr>
          <p:cNvSpPr txBox="1"/>
          <p:nvPr/>
        </p:nvSpPr>
        <p:spPr>
          <a:xfrm>
            <a:off x="8310452" y="6488668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Andrea Spinelli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448F5FAB-946C-85FC-C678-93A3B8EE9DC6}"/>
              </a:ext>
            </a:extLst>
          </p:cNvPr>
          <p:cNvSpPr txBox="1"/>
          <p:nvPr/>
        </p:nvSpPr>
        <p:spPr>
          <a:xfrm>
            <a:off x="8310452" y="-6587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Limitazioni dei metodi tradizionali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06CCA42A-DADF-8FCC-22CB-3498EFCF5882}"/>
              </a:ext>
            </a:extLst>
          </p:cNvPr>
          <p:cNvSpPr txBox="1"/>
          <p:nvPr/>
        </p:nvSpPr>
        <p:spPr>
          <a:xfrm>
            <a:off x="281549" y="-6587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Introduzione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D8D84EE2-35DD-E415-B265-3546CC2E5CFC}"/>
              </a:ext>
            </a:extLst>
          </p:cNvPr>
          <p:cNvSpPr txBox="1"/>
          <p:nvPr/>
        </p:nvSpPr>
        <p:spPr>
          <a:xfrm>
            <a:off x="833119" y="738663"/>
            <a:ext cx="10645649" cy="3677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Nonostante il loro consolidato successo, i metodi tradizionali, presentano delle limitazioni fondamentali che ne restringono l’applicabilità e l’efficienza in scenari specifici:</a:t>
            </a:r>
          </a:p>
          <a:p>
            <a:pPr marL="800100" lvl="1" indent="-342900" algn="just">
              <a:spcAft>
                <a:spcPts val="600"/>
              </a:spcAft>
              <a:buFont typeface="+mj-lt"/>
              <a:buAutoNum type="arabicPeriod"/>
            </a:pP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La </a:t>
            </a:r>
            <a:r>
              <a:rPr lang="it-IT" sz="16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dipendenza della griglia computazionale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it-IT" sz="16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mesh </a:t>
            </a:r>
            <a:r>
              <a:rPr lang="it-IT" sz="1600" b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dependence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 impone che soluzione venga calcolata nei punti discreti presi dal dominio continuo discretizzato. </a:t>
            </a:r>
            <a:endParaRPr lang="it-IT" sz="1600" b="1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800100" lvl="1" indent="-342900" algn="just">
              <a:spcAft>
                <a:spcPts val="600"/>
              </a:spcAft>
              <a:buFont typeface="+mj-lt"/>
              <a:buAutoNum type="arabicPeriod"/>
            </a:pP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La </a:t>
            </a:r>
            <a:r>
              <a:rPr lang="it-IT" sz="16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maledizione della dimensionalità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evince in maniera lampante, soprattutto per metodi </a:t>
            </a:r>
            <a:r>
              <a:rPr lang="it-IT" sz="16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mesh-</a:t>
            </a:r>
            <a:r>
              <a:rPr lang="it-IT" sz="1600" b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based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che l’onero computazionale aumenta all’aumentare delle dimensioni del problema (per un problema di dimensione </a:t>
            </a:r>
            <a:r>
              <a:rPr lang="it-IT" sz="16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servirebbe una griglia di </a:t>
            </a:r>
            <a:r>
              <a:rPr lang="it-IT" sz="16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</a:t>
            </a:r>
            <a:r>
              <a:rPr lang="it-IT" sz="1600" i="1" baseline="300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punti). </a:t>
            </a:r>
          </a:p>
          <a:p>
            <a:pPr marL="1257300" lvl="2" indent="-342900" algn="just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Le PINN essendo </a:t>
            </a:r>
            <a:r>
              <a:rPr lang="it-IT" sz="16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mesh-free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offrono la possibilità di superare i due limiti precedenti.</a:t>
            </a:r>
          </a:p>
          <a:p>
            <a:pPr marL="800100" lvl="1" indent="-342900" algn="just">
              <a:spcAft>
                <a:spcPts val="600"/>
              </a:spcAft>
              <a:buFont typeface="+mj-lt"/>
              <a:buAutoNum type="arabicPeriod"/>
            </a:pP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Un’altra classe di problemi sono i </a:t>
            </a:r>
            <a:r>
              <a:rPr lang="it-IT" sz="16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sistemi </a:t>
            </a:r>
            <a:r>
              <a:rPr lang="it-IT" sz="1600" b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stiff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 Per garantire la stabilità numerica, il passo di integrazione </a:t>
            </a:r>
            <a:r>
              <a:rPr lang="it-IT" sz="16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di un metodo esplicito deve essere sufficientemente piccolo (ma di scarso valore) da risolvere la scala temporale più veloce del sistema.</a:t>
            </a:r>
          </a:p>
          <a:p>
            <a:pPr marL="1200150" lvl="2" indent="-285750" algn="just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Le PINN offrono un approccio alternativo per affrontare la "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stiffness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" senza dipendere da un passo di integrazione vincolato dalla stabilità locale.</a:t>
            </a:r>
          </a:p>
        </p:txBody>
      </p:sp>
    </p:spTree>
    <p:extLst>
      <p:ext uri="{BB962C8B-B14F-4D97-AF65-F5344CB8AC3E}">
        <p14:creationId xmlns:p14="http://schemas.microsoft.com/office/powerpoint/2010/main" val="17968967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EE743-C3BC-F9BE-D2B8-11891DACF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9">
            <a:extLst>
              <a:ext uri="{FF2B5EF4-FFF2-40B4-BE49-F238E27FC236}">
                <a16:creationId xmlns:a16="http://schemas.microsoft.com/office/drawing/2014/main" id="{D8B0BAEF-3232-BBB4-E0EF-9D0C95CA2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" name="Rectangle 11">
            <a:extLst>
              <a:ext uri="{FF2B5EF4-FFF2-40B4-BE49-F238E27FC236}">
                <a16:creationId xmlns:a16="http://schemas.microsoft.com/office/drawing/2014/main" id="{3BDEAFDB-8C13-E125-B443-B290CAC67A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" name="Rectangle 13">
            <a:extLst>
              <a:ext uri="{FF2B5EF4-FFF2-40B4-BE49-F238E27FC236}">
                <a16:creationId xmlns:a16="http://schemas.microsoft.com/office/drawing/2014/main" id="{6DE8047E-07B9-6ACA-5722-832F55B6B0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C0B97DD2-88A8-9D9A-19D1-483A594FE749}"/>
              </a:ext>
            </a:extLst>
          </p:cNvPr>
          <p:cNvCxnSpPr>
            <a:cxnSpLocks/>
          </p:cNvCxnSpPr>
          <p:nvPr/>
        </p:nvCxnSpPr>
        <p:spPr>
          <a:xfrm>
            <a:off x="0" y="6482080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CF6592BA-6D7A-FA5C-26B6-8711AFF654C1}"/>
              </a:ext>
            </a:extLst>
          </p:cNvPr>
          <p:cNvCxnSpPr>
            <a:cxnSpLocks/>
          </p:cNvCxnSpPr>
          <p:nvPr/>
        </p:nvCxnSpPr>
        <p:spPr>
          <a:xfrm>
            <a:off x="8592000" y="6482080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02E7804A-4D29-F270-9302-22AB92BEDCC0}"/>
              </a:ext>
            </a:extLst>
          </p:cNvPr>
          <p:cNvCxnSpPr>
            <a:cxnSpLocks/>
          </p:cNvCxnSpPr>
          <p:nvPr/>
        </p:nvCxnSpPr>
        <p:spPr>
          <a:xfrm>
            <a:off x="0" y="375919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624F5E52-9EBB-AA28-26C1-B9CE19C1A358}"/>
              </a:ext>
            </a:extLst>
          </p:cNvPr>
          <p:cNvCxnSpPr>
            <a:cxnSpLocks/>
          </p:cNvCxnSpPr>
          <p:nvPr/>
        </p:nvCxnSpPr>
        <p:spPr>
          <a:xfrm>
            <a:off x="8592000" y="375919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22AE8137-9D0C-E21F-2711-B24D14BF66B1}"/>
              </a:ext>
            </a:extLst>
          </p:cNvPr>
          <p:cNvSpPr txBox="1"/>
          <p:nvPr/>
        </p:nvSpPr>
        <p:spPr>
          <a:xfrm>
            <a:off x="281549" y="6488668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5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3F3BAC2F-0EE5-444F-D3E8-62DDDF35888D}"/>
              </a:ext>
            </a:extLst>
          </p:cNvPr>
          <p:cNvSpPr txBox="1"/>
          <p:nvPr/>
        </p:nvSpPr>
        <p:spPr>
          <a:xfrm>
            <a:off x="8310452" y="6488668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Andrea Spinelli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4445F4E4-AEAD-EFB0-B994-F71D4861CD14}"/>
              </a:ext>
            </a:extLst>
          </p:cNvPr>
          <p:cNvSpPr txBox="1"/>
          <p:nvPr/>
        </p:nvSpPr>
        <p:spPr>
          <a:xfrm>
            <a:off x="8310452" y="-6587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Obiettivi principali e contributi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613EC0C8-6375-B6EA-9225-73520C113B43}"/>
              </a:ext>
            </a:extLst>
          </p:cNvPr>
          <p:cNvSpPr txBox="1"/>
          <p:nvPr/>
        </p:nvSpPr>
        <p:spPr>
          <a:xfrm>
            <a:off x="281549" y="-6587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Introduzione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7E7A5ED7-8E44-C458-3318-2C40732E7BAF}"/>
              </a:ext>
            </a:extLst>
          </p:cNvPr>
          <p:cNvSpPr txBox="1"/>
          <p:nvPr/>
        </p:nvSpPr>
        <p:spPr>
          <a:xfrm>
            <a:off x="833118" y="738663"/>
            <a:ext cx="106456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Il presente lavoro si inserisce in questo dibattito con un obiettivo chiaro e mirato: confrontare sistematicamente le performance di una selezione di metodi numerici tradizionali per ODE con quelle di una rete PINN nella risoluzione di un sistema differenziale che esibisce un comportamento complesso e potenzialmente caotico.</a:t>
            </a:r>
          </a:p>
        </p:txBody>
      </p:sp>
      <p:cxnSp>
        <p:nvCxnSpPr>
          <p:cNvPr id="9" name="Connettore diritto 8">
            <a:extLst>
              <a:ext uri="{FF2B5EF4-FFF2-40B4-BE49-F238E27FC236}">
                <a16:creationId xmlns:a16="http://schemas.microsoft.com/office/drawing/2014/main" id="{1745A0E8-BB2E-EE2F-7D19-E4596C4CA21C}"/>
              </a:ext>
            </a:extLst>
          </p:cNvPr>
          <p:cNvCxnSpPr>
            <a:cxnSpLocks/>
          </p:cNvCxnSpPr>
          <p:nvPr/>
        </p:nvCxnSpPr>
        <p:spPr>
          <a:xfrm>
            <a:off x="6116320" y="1727200"/>
            <a:ext cx="0" cy="3288246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75BAF93E-AE75-3755-2509-3463501A35D4}"/>
              </a:ext>
            </a:extLst>
          </p:cNvPr>
          <p:cNvSpPr txBox="1"/>
          <p:nvPr/>
        </p:nvSpPr>
        <p:spPr>
          <a:xfrm>
            <a:off x="833117" y="1723548"/>
            <a:ext cx="508000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Questo studio si propone di rispondere alle seguenti domande di ricerca:</a:t>
            </a:r>
          </a:p>
          <a:p>
            <a:endParaRPr lang="it-IT" sz="1600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it-IT" sz="16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Accuratezza vs Efficienza</a:t>
            </a:r>
          </a:p>
          <a:p>
            <a:pPr marL="342900" indent="-342900">
              <a:buFont typeface="+mj-lt"/>
              <a:buAutoNum type="arabicPeriod"/>
            </a:pPr>
            <a:endParaRPr lang="it-IT" sz="1600" b="1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it-IT" sz="16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Gestione della complessità</a:t>
            </a:r>
          </a:p>
          <a:p>
            <a:pPr marL="342900" indent="-342900">
              <a:buFont typeface="+mj-lt"/>
              <a:buAutoNum type="arabicPeriod"/>
            </a:pPr>
            <a:endParaRPr lang="it-IT" sz="1600" b="1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it-IT" sz="16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Generalizzazione e Flessibilità</a:t>
            </a:r>
          </a:p>
          <a:p>
            <a:pPr marL="342900" indent="-342900">
              <a:buFont typeface="+mj-lt"/>
              <a:buAutoNum type="arabicPeriod"/>
            </a:pPr>
            <a:endParaRPr lang="it-IT" sz="1600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70BED7AB-9512-1C5A-0A7B-6F31C9D39F43}"/>
              </a:ext>
            </a:extLst>
          </p:cNvPr>
          <p:cNvSpPr txBox="1"/>
          <p:nvPr/>
        </p:nvSpPr>
        <p:spPr>
          <a:xfrm>
            <a:off x="6328215" y="1723548"/>
            <a:ext cx="5150549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Per rispondere a queste domande si offrono i seguenti contributi:</a:t>
            </a:r>
          </a:p>
          <a:p>
            <a:endParaRPr lang="it-IT" sz="1600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it-IT" sz="16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Benchmark quantitativo</a:t>
            </a:r>
          </a:p>
          <a:p>
            <a:pPr marL="342900" indent="-342900">
              <a:buFont typeface="+mj-lt"/>
              <a:buAutoNum type="arabicPeriod"/>
            </a:pPr>
            <a:endParaRPr lang="it-IT" sz="1600" b="1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it-IT" sz="16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Accuratezza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endParaRPr lang="it-IT" sz="1600" b="1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it-IT" sz="16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Efficienza Computazionale</a:t>
            </a:r>
          </a:p>
          <a:p>
            <a:pPr marL="342900" indent="-342900">
              <a:buFont typeface="+mj-lt"/>
              <a:buAutoNum type="arabicPeriod"/>
            </a:pPr>
            <a:endParaRPr lang="it-IT" sz="1600" b="1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it-IT" sz="16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Analisi critica in un Contesto complesso</a:t>
            </a:r>
          </a:p>
          <a:p>
            <a:pPr marL="342900" indent="-342900">
              <a:buFont typeface="+mj-lt"/>
              <a:buAutoNum type="arabicPeriod"/>
            </a:pPr>
            <a:endParaRPr lang="it-IT" sz="1600" b="1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it-IT" sz="16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Implementazione Open-Source</a:t>
            </a:r>
          </a:p>
          <a:p>
            <a:pPr marL="342900" indent="-342900">
              <a:buFont typeface="+mj-lt"/>
              <a:buAutoNum type="arabicPeriod"/>
            </a:pPr>
            <a:endParaRPr lang="it-IT" sz="1600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89604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B8759-9762-6DC6-57F2-D7305EDE7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Straight Connector 9">
            <a:extLst>
              <a:ext uri="{FF2B5EF4-FFF2-40B4-BE49-F238E27FC236}">
                <a16:creationId xmlns:a16="http://schemas.microsoft.com/office/drawing/2014/main" id="{873CCB22-3F17-38C7-332F-64182AA86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0" name="Rectangle 11">
            <a:extLst>
              <a:ext uri="{FF2B5EF4-FFF2-40B4-BE49-F238E27FC236}">
                <a16:creationId xmlns:a16="http://schemas.microsoft.com/office/drawing/2014/main" id="{52399710-5620-765D-8B2A-47EC1E8A95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1" name="Rectangle 13">
            <a:extLst>
              <a:ext uri="{FF2B5EF4-FFF2-40B4-BE49-F238E27FC236}">
                <a16:creationId xmlns:a16="http://schemas.microsoft.com/office/drawing/2014/main" id="{E09EA9C2-787B-610D-88C8-3144E4CE8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Immagine 31">
            <a:extLst>
              <a:ext uri="{FF2B5EF4-FFF2-40B4-BE49-F238E27FC236}">
                <a16:creationId xmlns:a16="http://schemas.microsoft.com/office/drawing/2014/main" id="{E140566D-EF7E-E48B-FCDF-73147BC54F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7708" y="1862101"/>
            <a:ext cx="5532904" cy="3064108"/>
          </a:xfrm>
          <a:prstGeom prst="rect">
            <a:avLst/>
          </a:prstGeom>
          <a:ln>
            <a:noFill/>
          </a:ln>
        </p:spPr>
      </p:pic>
      <p:cxnSp>
        <p:nvCxnSpPr>
          <p:cNvPr id="33" name="Connettore diritto 32">
            <a:extLst>
              <a:ext uri="{FF2B5EF4-FFF2-40B4-BE49-F238E27FC236}">
                <a16:creationId xmlns:a16="http://schemas.microsoft.com/office/drawing/2014/main" id="{75612ECF-1ECF-19A5-750E-92C57AE3E3C2}"/>
              </a:ext>
            </a:extLst>
          </p:cNvPr>
          <p:cNvCxnSpPr>
            <a:cxnSpLocks/>
          </p:cNvCxnSpPr>
          <p:nvPr/>
        </p:nvCxnSpPr>
        <p:spPr>
          <a:xfrm>
            <a:off x="6116320" y="1842552"/>
            <a:ext cx="0" cy="317289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B8636D51-2258-765B-5304-913113AC22D0}"/>
              </a:ext>
            </a:extLst>
          </p:cNvPr>
          <p:cNvSpPr txBox="1"/>
          <p:nvPr/>
        </p:nvSpPr>
        <p:spPr>
          <a:xfrm>
            <a:off x="359215" y="1901438"/>
            <a:ext cx="5397890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b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PINNs</a:t>
            </a:r>
            <a:r>
              <a:rPr lang="it-IT" sz="32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vs ODE </a:t>
            </a:r>
            <a:r>
              <a:rPr lang="it-IT" sz="3200" b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Solvers</a:t>
            </a:r>
            <a:r>
              <a:rPr lang="it-IT" sz="32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3200" b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Numerical</a:t>
            </a:r>
            <a:r>
              <a:rPr lang="it-IT" sz="32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3200" b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Experiments</a:t>
            </a:r>
            <a:r>
              <a:rPr lang="it-IT" sz="32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Benchmark</a:t>
            </a:r>
          </a:p>
          <a:p>
            <a:pPr algn="ctr"/>
            <a:endParaRPr lang="it-IT" sz="3200" b="1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it-IT" sz="24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2.	Background</a:t>
            </a:r>
            <a:endParaRPr lang="it-IT" sz="2400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35" name="Connettore diritto 34">
            <a:extLst>
              <a:ext uri="{FF2B5EF4-FFF2-40B4-BE49-F238E27FC236}">
                <a16:creationId xmlns:a16="http://schemas.microsoft.com/office/drawing/2014/main" id="{4B4D1720-DB3A-5E73-B991-AB17E0657004}"/>
              </a:ext>
            </a:extLst>
          </p:cNvPr>
          <p:cNvCxnSpPr>
            <a:cxnSpLocks/>
          </p:cNvCxnSpPr>
          <p:nvPr/>
        </p:nvCxnSpPr>
        <p:spPr>
          <a:xfrm>
            <a:off x="0" y="6482080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6" name="Connettore diritto 35">
            <a:extLst>
              <a:ext uri="{FF2B5EF4-FFF2-40B4-BE49-F238E27FC236}">
                <a16:creationId xmlns:a16="http://schemas.microsoft.com/office/drawing/2014/main" id="{C2E8E983-832B-1372-482F-552FFF3CE365}"/>
              </a:ext>
            </a:extLst>
          </p:cNvPr>
          <p:cNvCxnSpPr>
            <a:cxnSpLocks/>
          </p:cNvCxnSpPr>
          <p:nvPr/>
        </p:nvCxnSpPr>
        <p:spPr>
          <a:xfrm>
            <a:off x="8592000" y="6482080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7" name="Connettore diritto 36">
            <a:extLst>
              <a:ext uri="{FF2B5EF4-FFF2-40B4-BE49-F238E27FC236}">
                <a16:creationId xmlns:a16="http://schemas.microsoft.com/office/drawing/2014/main" id="{C411CA26-2ADF-B304-CD41-C3A72BC91C5D}"/>
              </a:ext>
            </a:extLst>
          </p:cNvPr>
          <p:cNvCxnSpPr>
            <a:cxnSpLocks/>
          </p:cNvCxnSpPr>
          <p:nvPr/>
        </p:nvCxnSpPr>
        <p:spPr>
          <a:xfrm>
            <a:off x="0" y="375919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8" name="Connettore diritto 37">
            <a:extLst>
              <a:ext uri="{FF2B5EF4-FFF2-40B4-BE49-F238E27FC236}">
                <a16:creationId xmlns:a16="http://schemas.microsoft.com/office/drawing/2014/main" id="{492C9365-7D42-CFDE-67EA-F35A69C7C319}"/>
              </a:ext>
            </a:extLst>
          </p:cNvPr>
          <p:cNvCxnSpPr>
            <a:cxnSpLocks/>
          </p:cNvCxnSpPr>
          <p:nvPr/>
        </p:nvCxnSpPr>
        <p:spPr>
          <a:xfrm>
            <a:off x="8592000" y="375919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2AA65848-3077-63C7-E1A4-B5147C4B4DCF}"/>
              </a:ext>
            </a:extLst>
          </p:cNvPr>
          <p:cNvSpPr txBox="1"/>
          <p:nvPr/>
        </p:nvSpPr>
        <p:spPr>
          <a:xfrm>
            <a:off x="8310452" y="-6587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</p:txBody>
      </p:sp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BB1A7718-C992-3D35-0F03-04BB03FAC379}"/>
              </a:ext>
            </a:extLst>
          </p:cNvPr>
          <p:cNvSpPr txBox="1"/>
          <p:nvPr/>
        </p:nvSpPr>
        <p:spPr>
          <a:xfrm>
            <a:off x="281549" y="6482080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</p:txBody>
      </p: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5E21FCE4-596F-5881-8E11-7E91FFB9AE21}"/>
              </a:ext>
            </a:extLst>
          </p:cNvPr>
          <p:cNvSpPr txBox="1"/>
          <p:nvPr/>
        </p:nvSpPr>
        <p:spPr>
          <a:xfrm>
            <a:off x="281549" y="-6587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882290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F748B-1B90-4D86-6D06-BF334F778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9">
            <a:extLst>
              <a:ext uri="{FF2B5EF4-FFF2-40B4-BE49-F238E27FC236}">
                <a16:creationId xmlns:a16="http://schemas.microsoft.com/office/drawing/2014/main" id="{0AADE3F5-DE53-6F83-0AAE-58FF5C257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" name="Rectangle 11">
            <a:extLst>
              <a:ext uri="{FF2B5EF4-FFF2-40B4-BE49-F238E27FC236}">
                <a16:creationId xmlns:a16="http://schemas.microsoft.com/office/drawing/2014/main" id="{E3F93560-CC22-B4CA-D20A-7BA827BD6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" name="Rectangle 13">
            <a:extLst>
              <a:ext uri="{FF2B5EF4-FFF2-40B4-BE49-F238E27FC236}">
                <a16:creationId xmlns:a16="http://schemas.microsoft.com/office/drawing/2014/main" id="{D00525E7-55A7-69F3-5110-A06A3AE1F4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65BBF6A6-7391-4654-22C6-DB961CCE134A}"/>
              </a:ext>
            </a:extLst>
          </p:cNvPr>
          <p:cNvCxnSpPr>
            <a:cxnSpLocks/>
          </p:cNvCxnSpPr>
          <p:nvPr/>
        </p:nvCxnSpPr>
        <p:spPr>
          <a:xfrm>
            <a:off x="0" y="6482080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BD6441A1-95EB-3D4A-939F-1075CE6AC8B7}"/>
              </a:ext>
            </a:extLst>
          </p:cNvPr>
          <p:cNvCxnSpPr>
            <a:cxnSpLocks/>
          </p:cNvCxnSpPr>
          <p:nvPr/>
        </p:nvCxnSpPr>
        <p:spPr>
          <a:xfrm>
            <a:off x="8592000" y="6482080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6DE41472-D977-1CB2-C568-888DDC1E7AEB}"/>
              </a:ext>
            </a:extLst>
          </p:cNvPr>
          <p:cNvCxnSpPr>
            <a:cxnSpLocks/>
          </p:cNvCxnSpPr>
          <p:nvPr/>
        </p:nvCxnSpPr>
        <p:spPr>
          <a:xfrm>
            <a:off x="0" y="375919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9F8A26B0-AD98-A10F-5AE4-D4E45263B624}"/>
              </a:ext>
            </a:extLst>
          </p:cNvPr>
          <p:cNvCxnSpPr>
            <a:cxnSpLocks/>
          </p:cNvCxnSpPr>
          <p:nvPr/>
        </p:nvCxnSpPr>
        <p:spPr>
          <a:xfrm>
            <a:off x="8592000" y="375919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7B219B0E-3EC3-9C45-D9D4-C91AF7D73005}"/>
              </a:ext>
            </a:extLst>
          </p:cNvPr>
          <p:cNvSpPr txBox="1"/>
          <p:nvPr/>
        </p:nvSpPr>
        <p:spPr>
          <a:xfrm>
            <a:off x="281549" y="6488668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7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40CD0528-62FF-8535-7118-D3C9701CA3E2}"/>
              </a:ext>
            </a:extLst>
          </p:cNvPr>
          <p:cNvSpPr txBox="1"/>
          <p:nvPr/>
        </p:nvSpPr>
        <p:spPr>
          <a:xfrm>
            <a:off x="8310452" y="6488668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Andrea Spinelli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78AE9657-598E-1F32-79A6-71005320BFF8}"/>
              </a:ext>
            </a:extLst>
          </p:cNvPr>
          <p:cNvSpPr txBox="1"/>
          <p:nvPr/>
        </p:nvSpPr>
        <p:spPr>
          <a:xfrm>
            <a:off x="8310452" y="-6587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Sistemi fisici e Modelli matematici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B5938B9F-665D-E4A0-BA92-78FFF0BA82AC}"/>
              </a:ext>
            </a:extLst>
          </p:cNvPr>
          <p:cNvSpPr txBox="1"/>
          <p:nvPr/>
        </p:nvSpPr>
        <p:spPr>
          <a:xfrm>
            <a:off x="281549" y="-6587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Background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3C6808B4-D916-BC8C-C8E3-83DE1F2EB51E}"/>
              </a:ext>
            </a:extLst>
          </p:cNvPr>
          <p:cNvSpPr txBox="1"/>
          <p:nvPr/>
        </p:nvSpPr>
        <p:spPr>
          <a:xfrm>
            <a:off x="833118" y="738663"/>
            <a:ext cx="106456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Le equazioni differenziali non nascono in un vuoto teorico, ma sono il linguaggio matematico utilizzato per descrivere l’evoluzione dei sistemi fisici</a:t>
            </a:r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28B8116C-D60C-9A91-C1C5-81A26ADF21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6821" y="1609188"/>
            <a:ext cx="3815442" cy="2276373"/>
          </a:xfrm>
          <a:prstGeom prst="rect">
            <a:avLst/>
          </a:prstGeom>
        </p:spPr>
      </p:pic>
      <p:pic>
        <p:nvPicPr>
          <p:cNvPr id="19" name="Immagine 18">
            <a:extLst>
              <a:ext uri="{FF2B5EF4-FFF2-40B4-BE49-F238E27FC236}">
                <a16:creationId xmlns:a16="http://schemas.microsoft.com/office/drawing/2014/main" id="{00816ACD-4205-D7D4-5D90-7C376EBE70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6016" y="1615777"/>
            <a:ext cx="3322749" cy="2269787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E8939783-5D34-7A9E-A86C-F68C686E65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117" y="1609189"/>
            <a:ext cx="3379951" cy="227637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asellaDiTesto 16">
                <a:extLst>
                  <a:ext uri="{FF2B5EF4-FFF2-40B4-BE49-F238E27FC236}">
                    <a16:creationId xmlns:a16="http://schemas.microsoft.com/office/drawing/2014/main" id="{DB481BA4-F65C-3F0E-3E89-CD46AFE99F10}"/>
                  </a:ext>
                </a:extLst>
              </p:cNvPr>
              <p:cNvSpPr txBox="1"/>
              <p:nvPr/>
            </p:nvSpPr>
            <p:spPr>
              <a:xfrm>
                <a:off x="833119" y="3919954"/>
                <a:ext cx="3379950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it-IT" sz="16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Legge di Hooke</a:t>
                </a:r>
              </a:p>
              <a:p>
                <a:pPr algn="ctr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6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𝐹</m:t>
                      </m:r>
                      <m:r>
                        <a:rPr lang="it-IT" sz="16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=−</m:t>
                      </m:r>
                      <m:r>
                        <a:rPr lang="it-IT" sz="16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𝑘𝑥</m:t>
                      </m:r>
                    </m:oMath>
                  </m:oMathPara>
                </a14:m>
                <a:endParaRPr lang="it-IT" sz="1600" dirty="0">
                  <a:solidFill>
                    <a:srgbClr val="0070C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CasellaDiTesto 16">
                <a:extLst>
                  <a:ext uri="{FF2B5EF4-FFF2-40B4-BE49-F238E27FC236}">
                    <a16:creationId xmlns:a16="http://schemas.microsoft.com/office/drawing/2014/main" id="{DB481BA4-F65C-3F0E-3E89-CD46AFE99F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119" y="3919954"/>
                <a:ext cx="3379950" cy="738664"/>
              </a:xfrm>
              <a:prstGeom prst="rect">
                <a:avLst/>
              </a:prstGeom>
              <a:blipFill>
                <a:blip r:embed="rId5"/>
                <a:stretch>
                  <a:fillRect t="-330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asellaDiTesto 19">
                <a:extLst>
                  <a:ext uri="{FF2B5EF4-FFF2-40B4-BE49-F238E27FC236}">
                    <a16:creationId xmlns:a16="http://schemas.microsoft.com/office/drawing/2014/main" id="{BA2F9401-9AF4-2CBB-A5C1-0A648350D738}"/>
                  </a:ext>
                </a:extLst>
              </p:cNvPr>
              <p:cNvSpPr txBox="1"/>
              <p:nvPr/>
            </p:nvSpPr>
            <p:spPr>
              <a:xfrm>
                <a:off x="4276821" y="3919954"/>
                <a:ext cx="3815442" cy="6617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it-IT" sz="16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Moto armonico semplice</a:t>
                </a:r>
              </a:p>
              <a:p>
                <a:pPr algn="ctr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it-IT" sz="16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𝑚</m:t>
                    </m:r>
                    <m:acc>
                      <m:accPr>
                        <m:chr m:val="̈"/>
                        <m:ctrlPr>
                          <a:rPr lang="it-IT" sz="160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sz="16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it-IT" sz="16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−</m:t>
                    </m:r>
                    <m:r>
                      <a:rPr lang="it-IT" sz="16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𝑘𝑥</m:t>
                    </m:r>
                  </m:oMath>
                </a14:m>
                <a:r>
                  <a:rPr lang="it-IT" sz="1600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=0</a:t>
                </a:r>
              </a:p>
            </p:txBody>
          </p:sp>
        </mc:Choice>
        <mc:Fallback xmlns="">
          <p:sp>
            <p:nvSpPr>
              <p:cNvPr id="20" name="CasellaDiTesto 19">
                <a:extLst>
                  <a:ext uri="{FF2B5EF4-FFF2-40B4-BE49-F238E27FC236}">
                    <a16:creationId xmlns:a16="http://schemas.microsoft.com/office/drawing/2014/main" id="{BA2F9401-9AF4-2CBB-A5C1-0A648350D7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6821" y="3919954"/>
                <a:ext cx="3815442" cy="661720"/>
              </a:xfrm>
              <a:prstGeom prst="rect">
                <a:avLst/>
              </a:prstGeom>
              <a:blipFill>
                <a:blip r:embed="rId6"/>
                <a:stretch>
                  <a:fillRect t="-3670" b="-1009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asellaDiTesto 20">
                <a:extLst>
                  <a:ext uri="{FF2B5EF4-FFF2-40B4-BE49-F238E27FC236}">
                    <a16:creationId xmlns:a16="http://schemas.microsoft.com/office/drawing/2014/main" id="{1091B262-4EAB-73A0-7CA2-1D476496421F}"/>
                  </a:ext>
                </a:extLst>
              </p:cNvPr>
              <p:cNvSpPr txBox="1"/>
              <p:nvPr/>
            </p:nvSpPr>
            <p:spPr>
              <a:xfrm>
                <a:off x="8092263" y="3919954"/>
                <a:ext cx="3490137" cy="24404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it-IT" sz="16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Doppio pendolo</a:t>
                </a:r>
              </a:p>
              <a:p>
                <a:pPr algn="just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it-IT" sz="160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sz="160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160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it-IT" sz="160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it-IT" sz="160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it-IT" sz="160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160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it-IT" sz="160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it-IT" sz="160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6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it-IT" sz="16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1</m:t>
                          </m:r>
                        </m:sub>
                      </m:sSub>
                      <m:acc>
                        <m:accPr>
                          <m:chr m:val="̈"/>
                          <m:ctrlPr>
                            <a:rPr lang="it-IT" sz="16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it-IT" sz="16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16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it-IT" sz="16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  <m:r>
                        <a:rPr lang="it-IT" sz="16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it-IT" sz="16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6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it-IT" sz="16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it-IT" sz="16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6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it-IT" sz="16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2</m:t>
                          </m:r>
                        </m:sub>
                      </m:sSub>
                      <m:acc>
                        <m:accPr>
                          <m:chr m:val="̈"/>
                          <m:ctrlPr>
                            <a:rPr lang="it-IT" sz="16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it-IT" sz="16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16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it-IT" sz="16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func>
                            <m:funcPr>
                              <m:ctrlPr>
                                <a:rPr lang="it-IT" sz="16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it-IT" sz="1600" i="0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it-IT" sz="1600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it-IT" sz="1600" i="1" dirty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  <a:ea typeface="Cambria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sz="1600" i="1" dirty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  <a:ea typeface="Cambria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it-IT" sz="1600" i="1" dirty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  <a:ea typeface="Cambria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it-IT" sz="1600" i="1" dirty="0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it-IT" sz="1600" i="1" dirty="0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  <a:ea typeface="Cambria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sz="1600" i="1" dirty="0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  <a:ea typeface="Cambria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it-IT" sz="1600" i="1" dirty="0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  <a:ea typeface="Cambria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acc>
                      <m:r>
                        <a:rPr lang="it-IT" sz="16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it-IT" sz="160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6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it-IT" sz="16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it-IT" sz="16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6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it-IT" sz="16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2</m:t>
                          </m:r>
                        </m:sub>
                      </m:sSub>
                      <m:acc>
                        <m:accPr>
                          <m:chr m:val="̇"/>
                          <m:ctrlPr>
                            <a:rPr lang="it-IT" sz="16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accPr>
                        <m:e>
                          <m:sSubSup>
                            <m:sSubSupPr>
                              <m:ctrlPr>
                                <a:rPr lang="it-IT" sz="16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it-IT" sz="16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it-IT" sz="16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it-IT" sz="16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func>
                            <m:funcPr>
                              <m:ctrlPr>
                                <a:rPr lang="it-IT" sz="16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it-IT" sz="1600" i="0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it-IT" sz="1600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it-IT" sz="1600" i="1" dirty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  <a:ea typeface="Cambria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sz="1600" i="1" dirty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  <a:ea typeface="Cambria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it-IT" sz="1600" i="1" dirty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  <a:ea typeface="Cambria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it-IT" sz="1600" i="1" dirty="0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it-IT" sz="1600" i="1" dirty="0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  <a:ea typeface="Cambria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sz="1600" i="1" dirty="0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  <a:ea typeface="Cambria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it-IT" sz="1600" i="1" dirty="0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  <a:ea typeface="Cambria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acc>
                      <m:r>
                        <a:rPr lang="it-IT" sz="16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it-IT" sz="160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sz="160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16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it-IT" sz="16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it-IT" sz="16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it-IT" sz="16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16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it-IT" sz="16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it-IT" sz="16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𝑔</m:t>
                      </m:r>
                      <m:func>
                        <m:funcPr>
                          <m:ctrlPr>
                            <a:rPr lang="it-IT" sz="16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it-IT" sz="1600" i="0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it-IT" sz="16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it-IT" sz="1600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1600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it-IT" sz="1600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it-IT" sz="16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=</m:t>
                      </m:r>
                      <m:r>
                        <a:rPr lang="it-IT" sz="16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it-IT" sz="1600" i="1" dirty="0">
                  <a:solidFill>
                    <a:srgbClr val="0070C0"/>
                  </a:solidFill>
                  <a:latin typeface="Cambria Math" panose="02040503050406030204" pitchFamily="18" charset="0"/>
                  <a:ea typeface="Cambria" panose="02040503050406030204" pitchFamily="18" charset="0"/>
                </a:endParaRPr>
              </a:p>
              <a:p>
                <a:pPr algn="ctr">
                  <a:spcAft>
                    <a:spcPts val="600"/>
                  </a:spcAft>
                </a:pPr>
                <a:endParaRPr lang="it-IT" sz="1600" i="1" dirty="0">
                  <a:solidFill>
                    <a:srgbClr val="0070C0"/>
                  </a:solidFill>
                  <a:latin typeface="Cambria Math" panose="02040503050406030204" pitchFamily="18" charset="0"/>
                  <a:ea typeface="Cambria" panose="02040503050406030204" pitchFamily="18" charset="0"/>
                </a:endParaRPr>
              </a:p>
              <a:p>
                <a:pPr algn="just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160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6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it-IT" sz="16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it-IT" sz="16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6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it-IT" sz="16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2</m:t>
                          </m:r>
                        </m:sub>
                      </m:sSub>
                      <m:acc>
                        <m:accPr>
                          <m:chr m:val="̈"/>
                          <m:ctrlPr>
                            <a:rPr lang="it-IT" sz="16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it-IT" sz="16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16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it-IT" sz="16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  <m:r>
                        <a:rPr lang="it-IT" sz="160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it-IT" sz="16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6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it-IT" sz="16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it-IT" sz="16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6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it-IT" sz="16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1</m:t>
                          </m:r>
                        </m:sub>
                      </m:sSub>
                      <m:acc>
                        <m:accPr>
                          <m:chr m:val="̈"/>
                          <m:ctrlPr>
                            <a:rPr lang="it-IT" sz="16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it-IT" sz="16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16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it-IT" sz="16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func>
                            <m:funcPr>
                              <m:ctrlPr>
                                <a:rPr lang="it-IT" sz="16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it-IT" sz="1600" i="0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it-IT" sz="1600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it-IT" sz="1600" i="1" dirty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  <a:ea typeface="Cambria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sz="1600" i="1" dirty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  <a:ea typeface="Cambria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it-IT" sz="1600" i="1" dirty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  <a:ea typeface="Cambria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it-IT" sz="1600" i="1" dirty="0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it-IT" sz="1600" i="1" dirty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  <a:ea typeface="Cambria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sz="1600" i="1" dirty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  <a:ea typeface="Cambria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it-IT" sz="1600" i="1" dirty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  <a:ea typeface="Cambria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acc>
                      <m:r>
                        <a:rPr lang="it-IT" sz="160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it-IT" sz="16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6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it-IT" sz="16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it-IT" sz="16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6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it-IT" sz="16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1</m:t>
                          </m:r>
                        </m:sub>
                      </m:sSub>
                      <m:acc>
                        <m:accPr>
                          <m:chr m:val="̇"/>
                          <m:ctrlPr>
                            <a:rPr lang="it-IT" sz="16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accPr>
                        <m:e>
                          <m:sSubSup>
                            <m:sSubSupPr>
                              <m:ctrlPr>
                                <a:rPr lang="it-IT" sz="16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it-IT" sz="16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it-IT" sz="16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it-IT" sz="16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func>
                            <m:funcPr>
                              <m:ctrlPr>
                                <a:rPr lang="it-IT" sz="16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it-IT" sz="1600" i="0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it-IT" sz="1600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it-IT" sz="1600" i="1" dirty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  <a:ea typeface="Cambria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sz="1600" i="1" dirty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  <a:ea typeface="Cambria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it-IT" sz="1600" i="1" dirty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  <a:ea typeface="Cambria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it-IT" sz="1600" i="1" dirty="0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it-IT" sz="1600" i="1" dirty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  <a:ea typeface="Cambria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sz="1600" i="1" dirty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  <a:ea typeface="Cambria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it-IT" sz="1600" i="1" dirty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  <a:ea typeface="Cambria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acc>
                      <m:r>
                        <a:rPr lang="it-IT" sz="16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it-IT" sz="16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6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it-IT" sz="16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it-IT" sz="16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𝑔</m:t>
                      </m:r>
                      <m:func>
                        <m:funcPr>
                          <m:ctrlPr>
                            <a:rPr lang="it-IT" sz="16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it-IT" sz="1600" i="0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it-IT" sz="16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it-IT" sz="1600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1600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it-IT" sz="1600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it-IT" sz="16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=</m:t>
                      </m:r>
                      <m:r>
                        <a:rPr lang="it-IT" sz="16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it-IT" sz="1600" dirty="0">
                  <a:solidFill>
                    <a:srgbClr val="0070C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21" name="CasellaDiTesto 20">
                <a:extLst>
                  <a:ext uri="{FF2B5EF4-FFF2-40B4-BE49-F238E27FC236}">
                    <a16:creationId xmlns:a16="http://schemas.microsoft.com/office/drawing/2014/main" id="{1091B262-4EAB-73A0-7CA2-1D47649642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2263" y="3919954"/>
                <a:ext cx="3490137" cy="2440412"/>
              </a:xfrm>
              <a:prstGeom prst="rect">
                <a:avLst/>
              </a:prstGeom>
              <a:blipFill>
                <a:blip r:embed="rId7"/>
                <a:stretch>
                  <a:fillRect t="-1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97331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05AEE-C5CC-2DE5-F10B-D2C56D2B1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9">
            <a:extLst>
              <a:ext uri="{FF2B5EF4-FFF2-40B4-BE49-F238E27FC236}">
                <a16:creationId xmlns:a16="http://schemas.microsoft.com/office/drawing/2014/main" id="{41507BC5-113F-BC9C-48E1-E8237224EF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" name="Rectangle 11">
            <a:extLst>
              <a:ext uri="{FF2B5EF4-FFF2-40B4-BE49-F238E27FC236}">
                <a16:creationId xmlns:a16="http://schemas.microsoft.com/office/drawing/2014/main" id="{A22C9A99-6468-173D-6BCD-EDECA55AA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" name="Rectangle 13">
            <a:extLst>
              <a:ext uri="{FF2B5EF4-FFF2-40B4-BE49-F238E27FC236}">
                <a16:creationId xmlns:a16="http://schemas.microsoft.com/office/drawing/2014/main" id="{144D31EB-A225-F9DA-E2B5-2F09F545B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77973EE2-DE19-D296-2C16-C97AF1FA3DB1}"/>
              </a:ext>
            </a:extLst>
          </p:cNvPr>
          <p:cNvCxnSpPr>
            <a:cxnSpLocks/>
          </p:cNvCxnSpPr>
          <p:nvPr/>
        </p:nvCxnSpPr>
        <p:spPr>
          <a:xfrm>
            <a:off x="0" y="6482080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05D4CF91-838F-8E3B-4139-A8A62693094B}"/>
              </a:ext>
            </a:extLst>
          </p:cNvPr>
          <p:cNvCxnSpPr>
            <a:cxnSpLocks/>
          </p:cNvCxnSpPr>
          <p:nvPr/>
        </p:nvCxnSpPr>
        <p:spPr>
          <a:xfrm>
            <a:off x="8592000" y="6482080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2BA186C4-163A-C7F9-B3D5-3DCEC7247778}"/>
              </a:ext>
            </a:extLst>
          </p:cNvPr>
          <p:cNvCxnSpPr>
            <a:cxnSpLocks/>
          </p:cNvCxnSpPr>
          <p:nvPr/>
        </p:nvCxnSpPr>
        <p:spPr>
          <a:xfrm>
            <a:off x="0" y="375919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F3933FD0-0C9B-E789-37C0-C1C818B68434}"/>
              </a:ext>
            </a:extLst>
          </p:cNvPr>
          <p:cNvCxnSpPr>
            <a:cxnSpLocks/>
          </p:cNvCxnSpPr>
          <p:nvPr/>
        </p:nvCxnSpPr>
        <p:spPr>
          <a:xfrm>
            <a:off x="8592000" y="375919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B8DE4579-62FF-869F-1E99-D2A5BC75ECCB}"/>
              </a:ext>
            </a:extLst>
          </p:cNvPr>
          <p:cNvSpPr txBox="1"/>
          <p:nvPr/>
        </p:nvSpPr>
        <p:spPr>
          <a:xfrm>
            <a:off x="281549" y="6488668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8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13EF9FFD-42BA-2382-1743-1481150654F3}"/>
              </a:ext>
            </a:extLst>
          </p:cNvPr>
          <p:cNvSpPr txBox="1"/>
          <p:nvPr/>
        </p:nvSpPr>
        <p:spPr>
          <a:xfrm>
            <a:off x="8310452" y="6488668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Andrea Spinelli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159633D6-F060-E6CE-DA35-8A7E08638182}"/>
              </a:ext>
            </a:extLst>
          </p:cNvPr>
          <p:cNvSpPr txBox="1"/>
          <p:nvPr/>
        </p:nvSpPr>
        <p:spPr>
          <a:xfrm>
            <a:off x="8310452" y="-6587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Sistemi fisici e Modelli matematici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C1A48F45-57E2-8303-0A2C-31A54CC78A3C}"/>
              </a:ext>
            </a:extLst>
          </p:cNvPr>
          <p:cNvSpPr txBox="1"/>
          <p:nvPr/>
        </p:nvSpPr>
        <p:spPr>
          <a:xfrm>
            <a:off x="281549" y="-6587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Background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09C264E6-93C5-3E6F-2021-37436A25D06D}"/>
              </a:ext>
            </a:extLst>
          </p:cNvPr>
          <p:cNvSpPr txBox="1"/>
          <p:nvPr/>
        </p:nvSpPr>
        <p:spPr>
          <a:xfrm>
            <a:off x="833118" y="738663"/>
            <a:ext cx="106456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Le equazioni differenziali non nascono in un vuoto teorico, ma sono il linguaggio matematico utilizzato per descrivere l’evoluzione dei sistemi fisici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7C7637FC-FDE6-233B-8E73-8199CC134B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6318" y="1602602"/>
            <a:ext cx="3251202" cy="2286400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5B77157B-1A9E-3D1D-064C-F8BDD743A8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8078" y="1596014"/>
            <a:ext cx="4574002" cy="229624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asellaDiTesto 22">
                <a:extLst>
                  <a:ext uri="{FF2B5EF4-FFF2-40B4-BE49-F238E27FC236}">
                    <a16:creationId xmlns:a16="http://schemas.microsoft.com/office/drawing/2014/main" id="{5F8B8CB9-0A62-BD9E-AEF4-2BCECA1D4676}"/>
                  </a:ext>
                </a:extLst>
              </p:cNvPr>
              <p:cNvSpPr txBox="1"/>
              <p:nvPr/>
            </p:nvSpPr>
            <p:spPr>
              <a:xfrm>
                <a:off x="2306318" y="3895589"/>
                <a:ext cx="3251202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it-IT" sz="16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Oscillatore Van </a:t>
                </a:r>
                <a:r>
                  <a:rPr lang="it-IT" sz="1600" b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Der</a:t>
                </a:r>
                <a:r>
                  <a:rPr lang="it-IT" sz="16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Pol</a:t>
                </a:r>
              </a:p>
              <a:p>
                <a:pPr algn="ctr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̈"/>
                          <m:ctrlPr>
                            <a:rPr lang="pl-PL" sz="160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accPr>
                        <m:e>
                          <m:r>
                            <a:rPr lang="pl-PL" sz="16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pl-PL" sz="16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−</m:t>
                      </m:r>
                      <m:r>
                        <a:rPr lang="pl-PL" sz="16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𝜇</m:t>
                      </m:r>
                      <m:d>
                        <m:dPr>
                          <m:ctrlPr>
                            <a:rPr lang="pl-PL" sz="16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sz="16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pl-PL" sz="16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l-PL" sz="16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pl-PL" sz="16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acc>
                        <m:accPr>
                          <m:chr m:val="̇"/>
                          <m:ctrlPr>
                            <a:rPr lang="pl-PL" sz="16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accPr>
                        <m:e>
                          <m:r>
                            <a:rPr lang="pl-PL" sz="16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pl-PL" sz="16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+</m:t>
                      </m:r>
                      <m:r>
                        <a:rPr lang="pl-PL" sz="16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𝑥</m:t>
                      </m:r>
                      <m:r>
                        <a:rPr lang="pl-PL" sz="16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it-IT" sz="1600" dirty="0">
                  <a:solidFill>
                    <a:srgbClr val="0070C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23" name="CasellaDiTesto 22">
                <a:extLst>
                  <a:ext uri="{FF2B5EF4-FFF2-40B4-BE49-F238E27FC236}">
                    <a16:creationId xmlns:a16="http://schemas.microsoft.com/office/drawing/2014/main" id="{5F8B8CB9-0A62-BD9E-AEF4-2BCECA1D46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6318" y="3895589"/>
                <a:ext cx="3251202" cy="738664"/>
              </a:xfrm>
              <a:prstGeom prst="rect">
                <a:avLst/>
              </a:prstGeom>
              <a:blipFill>
                <a:blip r:embed="rId4"/>
                <a:stretch>
                  <a:fillRect t="-330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asellaDiTesto 23">
                <a:extLst>
                  <a:ext uri="{FF2B5EF4-FFF2-40B4-BE49-F238E27FC236}">
                    <a16:creationId xmlns:a16="http://schemas.microsoft.com/office/drawing/2014/main" id="{8E45E2D4-4045-4498-E342-A4691E6DB302}"/>
                  </a:ext>
                </a:extLst>
              </p:cNvPr>
              <p:cNvSpPr txBox="1"/>
              <p:nvPr/>
            </p:nvSpPr>
            <p:spPr>
              <a:xfrm>
                <a:off x="5718078" y="3895589"/>
                <a:ext cx="4574002" cy="7659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it-IT" sz="16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Oscillatore </a:t>
                </a:r>
                <a:r>
                  <a:rPr lang="it-IT" sz="1600" b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Jerk</a:t>
                </a:r>
                <a:endParaRPr lang="it-IT" sz="1600" b="1" dirty="0">
                  <a:solidFill>
                    <a:srgbClr val="0070C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algn="ctr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⃛"/>
                          <m:ctrlPr>
                            <a:rPr lang="it-IT" sz="16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sz="16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it-IT" sz="16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+</m:t>
                      </m:r>
                      <m:r>
                        <a:rPr lang="it-IT" sz="16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𝐴</m:t>
                      </m:r>
                      <m:acc>
                        <m:accPr>
                          <m:chr m:val="̈"/>
                          <m:ctrlPr>
                            <a:rPr lang="it-IT" sz="16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sz="16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it-IT" sz="16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−</m:t>
                      </m:r>
                      <m:acc>
                        <m:accPr>
                          <m:chr m:val="̇"/>
                          <m:ctrlPr>
                            <a:rPr lang="it-IT" sz="16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it-IT" sz="16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it-IT" sz="16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it-IT" sz="16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lang="it-IT" sz="16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+</m:t>
                      </m:r>
                      <m:r>
                        <a:rPr lang="it-IT" sz="16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𝑥</m:t>
                      </m:r>
                      <m:r>
                        <a:rPr lang="it-IT" sz="16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it-IT" sz="1600" dirty="0">
                  <a:solidFill>
                    <a:srgbClr val="0070C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24" name="CasellaDiTesto 23">
                <a:extLst>
                  <a:ext uri="{FF2B5EF4-FFF2-40B4-BE49-F238E27FC236}">
                    <a16:creationId xmlns:a16="http://schemas.microsoft.com/office/drawing/2014/main" id="{8E45E2D4-4045-4498-E342-A4691E6DB3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8078" y="3895589"/>
                <a:ext cx="4574002" cy="765979"/>
              </a:xfrm>
              <a:prstGeom prst="rect">
                <a:avLst/>
              </a:prstGeom>
              <a:blipFill>
                <a:blip r:embed="rId5"/>
                <a:stretch>
                  <a:fillRect t="-317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27498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FA764-85DE-E7AF-EBE9-6BE4E2190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9">
            <a:extLst>
              <a:ext uri="{FF2B5EF4-FFF2-40B4-BE49-F238E27FC236}">
                <a16:creationId xmlns:a16="http://schemas.microsoft.com/office/drawing/2014/main" id="{DAC56CB9-DFAB-09A7-0128-CB89512275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" name="Rectangle 11">
            <a:extLst>
              <a:ext uri="{FF2B5EF4-FFF2-40B4-BE49-F238E27FC236}">
                <a16:creationId xmlns:a16="http://schemas.microsoft.com/office/drawing/2014/main" id="{B9994D97-1568-9ECD-05EB-458D044E8B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" name="Rectangle 13">
            <a:extLst>
              <a:ext uri="{FF2B5EF4-FFF2-40B4-BE49-F238E27FC236}">
                <a16:creationId xmlns:a16="http://schemas.microsoft.com/office/drawing/2014/main" id="{6D5AEEBF-362B-4D25-6433-E0BBBD5AA2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C0CB50F8-A4A2-1633-26D2-C2D356401C19}"/>
              </a:ext>
            </a:extLst>
          </p:cNvPr>
          <p:cNvCxnSpPr>
            <a:cxnSpLocks/>
          </p:cNvCxnSpPr>
          <p:nvPr/>
        </p:nvCxnSpPr>
        <p:spPr>
          <a:xfrm>
            <a:off x="0" y="6482080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9CDCC50D-B0C0-A3D8-8FAA-E668BE7795CD}"/>
              </a:ext>
            </a:extLst>
          </p:cNvPr>
          <p:cNvCxnSpPr>
            <a:cxnSpLocks/>
          </p:cNvCxnSpPr>
          <p:nvPr/>
        </p:nvCxnSpPr>
        <p:spPr>
          <a:xfrm>
            <a:off x="8592000" y="6482080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89D206CF-55EA-A328-E29E-427EE803F57F}"/>
              </a:ext>
            </a:extLst>
          </p:cNvPr>
          <p:cNvCxnSpPr>
            <a:cxnSpLocks/>
          </p:cNvCxnSpPr>
          <p:nvPr/>
        </p:nvCxnSpPr>
        <p:spPr>
          <a:xfrm>
            <a:off x="0" y="375919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72B27EC9-CCB1-64C5-255E-221F2934CDA6}"/>
              </a:ext>
            </a:extLst>
          </p:cNvPr>
          <p:cNvCxnSpPr>
            <a:cxnSpLocks/>
          </p:cNvCxnSpPr>
          <p:nvPr/>
        </p:nvCxnSpPr>
        <p:spPr>
          <a:xfrm>
            <a:off x="8592000" y="375919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B6BDA718-FB35-F4EB-EB96-A4963D07F62D}"/>
              </a:ext>
            </a:extLst>
          </p:cNvPr>
          <p:cNvSpPr txBox="1"/>
          <p:nvPr/>
        </p:nvSpPr>
        <p:spPr>
          <a:xfrm>
            <a:off x="281549" y="6488668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9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669C63FA-0249-6EB4-A409-679AC2E7F8DB}"/>
              </a:ext>
            </a:extLst>
          </p:cNvPr>
          <p:cNvSpPr txBox="1"/>
          <p:nvPr/>
        </p:nvSpPr>
        <p:spPr>
          <a:xfrm>
            <a:off x="8310452" y="6488668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Andrea Spinelli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A0BD389B-EBD0-C370-3DCB-5E173626E706}"/>
              </a:ext>
            </a:extLst>
          </p:cNvPr>
          <p:cNvSpPr txBox="1"/>
          <p:nvPr/>
        </p:nvSpPr>
        <p:spPr>
          <a:xfrm>
            <a:off x="8310452" y="-6587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Sistemi fisici e Modelli matematici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6842494E-F834-F96F-A5AF-54D314E8A3EB}"/>
              </a:ext>
            </a:extLst>
          </p:cNvPr>
          <p:cNvSpPr txBox="1"/>
          <p:nvPr/>
        </p:nvSpPr>
        <p:spPr>
          <a:xfrm>
            <a:off x="281549" y="-6587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Background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FA0E02AC-4828-1258-BF2C-98BFF308FED9}"/>
              </a:ext>
            </a:extLst>
          </p:cNvPr>
          <p:cNvSpPr txBox="1"/>
          <p:nvPr/>
        </p:nvSpPr>
        <p:spPr>
          <a:xfrm>
            <a:off x="833118" y="738663"/>
            <a:ext cx="106456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Le equazioni differenziali non nascono in un vuoto teorico, ma sono il linguaggio matematico utilizzato per descrivere l’evoluzione dei sistemi fisici</a:t>
            </a:r>
          </a:p>
        </p:txBody>
      </p:sp>
      <p:pic>
        <p:nvPicPr>
          <p:cNvPr id="25" name="Immagine 24">
            <a:extLst>
              <a:ext uri="{FF2B5EF4-FFF2-40B4-BE49-F238E27FC236}">
                <a16:creationId xmlns:a16="http://schemas.microsoft.com/office/drawing/2014/main" id="{81841B78-9486-8C0A-0E5D-F462AE4C6C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7034" y="1578815"/>
            <a:ext cx="4425932" cy="1387036"/>
          </a:xfrm>
          <a:prstGeom prst="rect">
            <a:avLst/>
          </a:prstGeom>
        </p:spPr>
      </p:pic>
      <p:pic>
        <p:nvPicPr>
          <p:cNvPr id="27" name="Immagine 26">
            <a:extLst>
              <a:ext uri="{FF2B5EF4-FFF2-40B4-BE49-F238E27FC236}">
                <a16:creationId xmlns:a16="http://schemas.microsoft.com/office/drawing/2014/main" id="{9C32C76E-B7A6-B877-20FA-9BD06B6ED8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3977" y="1588771"/>
            <a:ext cx="4501993" cy="13770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asellaDiTesto 28">
                <a:extLst>
                  <a:ext uri="{FF2B5EF4-FFF2-40B4-BE49-F238E27FC236}">
                    <a16:creationId xmlns:a16="http://schemas.microsoft.com/office/drawing/2014/main" id="{AC32FB31-FF86-84AA-07DE-8FAF20F02593}"/>
                  </a:ext>
                </a:extLst>
              </p:cNvPr>
              <p:cNvSpPr txBox="1"/>
              <p:nvPr/>
            </p:nvSpPr>
            <p:spPr>
              <a:xfrm>
                <a:off x="1387034" y="2957952"/>
                <a:ext cx="4425932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it-IT" sz="16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Problema di </a:t>
                </a:r>
                <a:r>
                  <a:rPr lang="it-IT" sz="1600" b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Blasius</a:t>
                </a:r>
                <a:endParaRPr lang="it-IT" sz="1600" b="1" dirty="0">
                  <a:solidFill>
                    <a:srgbClr val="0070C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algn="ctr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60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it-IT" sz="16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16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it-IT" sz="16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′′′</m:t>
                          </m:r>
                        </m:sup>
                      </m:sSup>
                      <m:d>
                        <m:dPr>
                          <m:ctrlPr>
                            <a:rPr lang="it-IT" sz="16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6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𝜂</m:t>
                          </m:r>
                        </m:e>
                      </m:d>
                      <m:r>
                        <a:rPr lang="it-IT" sz="16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+</m:t>
                      </m:r>
                      <m:r>
                        <a:rPr lang="it-IT" sz="16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it-IT" sz="16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6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𝜂</m:t>
                          </m:r>
                        </m:e>
                      </m:d>
                      <m:sSup>
                        <m:sSupPr>
                          <m:ctrlPr>
                            <a:rPr lang="it-IT" sz="16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16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it-IT" sz="16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′′</m:t>
                          </m:r>
                        </m:sup>
                      </m:sSup>
                      <m:d>
                        <m:dPr>
                          <m:ctrlPr>
                            <a:rPr lang="it-IT" sz="16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6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𝜂</m:t>
                          </m:r>
                        </m:e>
                      </m:d>
                      <m:r>
                        <a:rPr lang="it-IT" sz="16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it-IT" sz="1600" dirty="0">
                  <a:solidFill>
                    <a:srgbClr val="0070C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29" name="CasellaDiTesto 28">
                <a:extLst>
                  <a:ext uri="{FF2B5EF4-FFF2-40B4-BE49-F238E27FC236}">
                    <a16:creationId xmlns:a16="http://schemas.microsoft.com/office/drawing/2014/main" id="{AC32FB31-FF86-84AA-07DE-8FAF20F025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7034" y="2957952"/>
                <a:ext cx="4425932" cy="738664"/>
              </a:xfrm>
              <a:prstGeom prst="rect">
                <a:avLst/>
              </a:prstGeom>
              <a:blipFill>
                <a:blip r:embed="rId4"/>
                <a:stretch>
                  <a:fillRect t="-330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asellaDiTesto 29">
                <a:extLst>
                  <a:ext uri="{FF2B5EF4-FFF2-40B4-BE49-F238E27FC236}">
                    <a16:creationId xmlns:a16="http://schemas.microsoft.com/office/drawing/2014/main" id="{CCFD4143-AAC1-0DA0-8ADF-FDA27A867B66}"/>
                  </a:ext>
                </a:extLst>
              </p:cNvPr>
              <p:cNvSpPr txBox="1"/>
              <p:nvPr/>
            </p:nvSpPr>
            <p:spPr>
              <a:xfrm>
                <a:off x="6220038" y="2964539"/>
                <a:ext cx="4425932" cy="11178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it-IT" sz="16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Problema dei tre corpi</a:t>
                </a:r>
              </a:p>
              <a:p>
                <a:pPr algn="ctr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̈"/>
                          <m:ctrlPr>
                            <a:rPr lang="it-IT" sz="160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it-IT" sz="16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16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𝐫</m:t>
                              </m:r>
                            </m:e>
                            <m:sub>
                              <m:r>
                                <a:rPr lang="it-IT" sz="16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it-IT" sz="16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=</m:t>
                      </m:r>
                      <m:r>
                        <a:rPr lang="it-IT" sz="16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𝐺</m:t>
                      </m:r>
                      <m:nary>
                        <m:naryPr>
                          <m:chr m:val="∑"/>
                          <m:supHide m:val="on"/>
                          <m:ctrlPr>
                            <a:rPr lang="it-IT" sz="16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naryPr>
                        <m:sub>
                          <m:r>
                            <a:rPr lang="it-IT" sz="16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𝑗</m:t>
                          </m:r>
                          <m:r>
                            <a:rPr lang="it-IT" sz="16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≠</m:t>
                          </m:r>
                          <m:r>
                            <a:rPr lang="it-IT" sz="16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it-IT" sz="16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16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it-IT" sz="16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f>
                            <m:fPr>
                              <m:ctrlPr>
                                <a:rPr lang="it-IT" sz="16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it-IT" sz="1600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1600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𝐫</m:t>
                                  </m:r>
                                </m:e>
                                <m:sub>
                                  <m:r>
                                    <a:rPr lang="it-IT" sz="1600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𝐣</m:t>
                                  </m:r>
                                </m:sub>
                              </m:sSub>
                              <m:r>
                                <a:rPr lang="it-IT" sz="16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it-IT" sz="1600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1600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𝐫</m:t>
                                  </m:r>
                                </m:e>
                                <m:sub>
                                  <m:r>
                                    <a:rPr lang="it-IT" sz="1600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𝐢</m:t>
                                  </m:r>
                                </m:sub>
                              </m:sSub>
                            </m:num>
                            <m:den>
                              <m:r>
                                <m:rPr>
                                  <m:lit/>
                                </m:rPr>
                                <a:rPr lang="it-IT" sz="16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it-IT" sz="1600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1600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𝐫</m:t>
                                  </m:r>
                                </m:e>
                                <m:sub>
                                  <m:r>
                                    <a:rPr lang="it-IT" sz="1600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𝐣</m:t>
                                  </m:r>
                                </m:sub>
                              </m:sSub>
                              <m:r>
                                <a:rPr lang="it-IT" sz="16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it-IT" sz="1600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1600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𝐫</m:t>
                                  </m:r>
                                </m:e>
                                <m:sub>
                                  <m:r>
                                    <a:rPr lang="it-IT" sz="1600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𝐢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it-IT" sz="1600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lit/>
                                    </m:rPr>
                                    <a:rPr lang="it-IT" sz="1600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|</m:t>
                                  </m:r>
                                </m:e>
                                <m:sup>
                                  <m:r>
                                    <a:rPr lang="it-IT" sz="1600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it-IT" sz="1600" dirty="0">
                  <a:solidFill>
                    <a:srgbClr val="0070C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0" name="CasellaDiTesto 29">
                <a:extLst>
                  <a:ext uri="{FF2B5EF4-FFF2-40B4-BE49-F238E27FC236}">
                    <a16:creationId xmlns:a16="http://schemas.microsoft.com/office/drawing/2014/main" id="{CCFD4143-AAC1-0DA0-8ADF-FDA27A867B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0038" y="2964539"/>
                <a:ext cx="4425932" cy="1117807"/>
              </a:xfrm>
              <a:prstGeom prst="rect">
                <a:avLst/>
              </a:prstGeom>
              <a:blipFill>
                <a:blip r:embed="rId5"/>
                <a:stretch>
                  <a:fillRect t="-217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81951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4F6E3-5D9B-197D-0CFA-046303FA6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9">
            <a:extLst>
              <a:ext uri="{FF2B5EF4-FFF2-40B4-BE49-F238E27FC236}">
                <a16:creationId xmlns:a16="http://schemas.microsoft.com/office/drawing/2014/main" id="{3E3F9243-31B1-D72A-9616-0CD49C460A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" name="Rectangle 11">
            <a:extLst>
              <a:ext uri="{FF2B5EF4-FFF2-40B4-BE49-F238E27FC236}">
                <a16:creationId xmlns:a16="http://schemas.microsoft.com/office/drawing/2014/main" id="{A3ECAF7B-653D-C4AF-65D4-1B09788DCB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" name="Rectangle 13">
            <a:extLst>
              <a:ext uri="{FF2B5EF4-FFF2-40B4-BE49-F238E27FC236}">
                <a16:creationId xmlns:a16="http://schemas.microsoft.com/office/drawing/2014/main" id="{4390BDED-3384-4D64-9BC9-DA65A40E5B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3F23713E-5DF0-62CB-1299-8AA3632B5B7C}"/>
              </a:ext>
            </a:extLst>
          </p:cNvPr>
          <p:cNvCxnSpPr>
            <a:cxnSpLocks/>
          </p:cNvCxnSpPr>
          <p:nvPr/>
        </p:nvCxnSpPr>
        <p:spPr>
          <a:xfrm>
            <a:off x="0" y="6482080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1522DFA6-8D32-C16F-D995-ECF79B2FC6DD}"/>
              </a:ext>
            </a:extLst>
          </p:cNvPr>
          <p:cNvCxnSpPr>
            <a:cxnSpLocks/>
          </p:cNvCxnSpPr>
          <p:nvPr/>
        </p:nvCxnSpPr>
        <p:spPr>
          <a:xfrm>
            <a:off x="8592000" y="6482080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B49B274E-47F7-C477-93F3-FC3DEE5A6B4F}"/>
              </a:ext>
            </a:extLst>
          </p:cNvPr>
          <p:cNvCxnSpPr>
            <a:cxnSpLocks/>
          </p:cNvCxnSpPr>
          <p:nvPr/>
        </p:nvCxnSpPr>
        <p:spPr>
          <a:xfrm>
            <a:off x="0" y="375919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574A611E-3C24-627C-3D3D-23997D0C3F14}"/>
              </a:ext>
            </a:extLst>
          </p:cNvPr>
          <p:cNvCxnSpPr>
            <a:cxnSpLocks/>
          </p:cNvCxnSpPr>
          <p:nvPr/>
        </p:nvCxnSpPr>
        <p:spPr>
          <a:xfrm>
            <a:off x="8592000" y="375919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0737F295-653A-A5F8-345D-DE05E5CBDC75}"/>
              </a:ext>
            </a:extLst>
          </p:cNvPr>
          <p:cNvSpPr txBox="1"/>
          <p:nvPr/>
        </p:nvSpPr>
        <p:spPr>
          <a:xfrm>
            <a:off x="281549" y="6488668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10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1706F8CC-C02C-7FE5-74C7-74C93CFE7E1B}"/>
              </a:ext>
            </a:extLst>
          </p:cNvPr>
          <p:cNvSpPr txBox="1"/>
          <p:nvPr/>
        </p:nvSpPr>
        <p:spPr>
          <a:xfrm>
            <a:off x="8310452" y="6488668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Andrea Spinelli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67C168DD-330E-7552-B17D-C098EA4D73BE}"/>
              </a:ext>
            </a:extLst>
          </p:cNvPr>
          <p:cNvSpPr txBox="1"/>
          <p:nvPr/>
        </p:nvSpPr>
        <p:spPr>
          <a:xfrm>
            <a:off x="8310452" y="-6587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Metodi numerici per ODE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FD7153A-C22A-E125-53B5-83AC2D75D5EB}"/>
              </a:ext>
            </a:extLst>
          </p:cNvPr>
          <p:cNvSpPr txBox="1"/>
          <p:nvPr/>
        </p:nvSpPr>
        <p:spPr>
          <a:xfrm>
            <a:off x="281549" y="-6587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Background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sellaDiTesto 17">
                <a:extLst>
                  <a:ext uri="{FF2B5EF4-FFF2-40B4-BE49-F238E27FC236}">
                    <a16:creationId xmlns:a16="http://schemas.microsoft.com/office/drawing/2014/main" id="{9E8C9755-0085-9C5C-3372-A12EF377C6F0}"/>
                  </a:ext>
                </a:extLst>
              </p:cNvPr>
              <p:cNvSpPr txBox="1"/>
              <p:nvPr/>
            </p:nvSpPr>
            <p:spPr>
              <a:xfrm>
                <a:off x="833118" y="738663"/>
                <a:ext cx="10645647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 algn="just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it-IT" sz="1600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Quando una soluzione analitica a un’equazione differenziale non è disponibile, si ricorre a metodi numerici. </a:t>
                </a:r>
              </a:p>
              <a:p>
                <a:pPr marL="285750" indent="-285750" algn="just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it-IT" sz="1600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L’idea fondamentale alla base di questi metodi è la discretizzazione il dominio continuo del tempo viene suddiviso in una serie di istanti discreti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6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bPr>
                      <m:e>
                        <m:r>
                          <a:rPr lang="it-IT" sz="160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it-IT" sz="160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it-IT" sz="16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it-IT" sz="16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bPr>
                      <m:e>
                        <m:r>
                          <a:rPr lang="it-IT" sz="16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it-IT" sz="16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it-IT" sz="16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it-IT" sz="16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bPr>
                      <m:e>
                        <m:r>
                          <a:rPr lang="it-IT" sz="16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it-IT" sz="16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it-IT" sz="16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, . . . , </m:t>
                    </m:r>
                    <m:sSub>
                      <m:sSubPr>
                        <m:ctrlPr>
                          <a:rPr lang="it-IT" sz="16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bPr>
                      <m:e>
                        <m:r>
                          <a:rPr lang="it-IT" sz="1600" i="1" dirty="0" err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it-IT" sz="16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it-IT" sz="1600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, separati da un passo di integrazione </a:t>
                </a:r>
                <a14:m>
                  <m:oMath xmlns:m="http://schemas.openxmlformats.org/officeDocument/2006/math">
                    <m:r>
                      <a:rPr lang="it-IT" sz="16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h</m:t>
                    </m:r>
                    <m:r>
                      <a:rPr lang="it-IT" sz="16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 = </m:t>
                    </m:r>
                    <m:sSub>
                      <m:sSubPr>
                        <m:ctrlPr>
                          <a:rPr lang="it-IT" sz="16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bPr>
                      <m:e>
                        <m:r>
                          <a:rPr lang="it-IT" sz="16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it-IT" sz="16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𝑛</m:t>
                        </m:r>
                        <m:r>
                          <a:rPr lang="it-IT" sz="16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it-IT" sz="16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it-IT" sz="16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bPr>
                      <m:e>
                        <m:r>
                          <a:rPr lang="it-IT" sz="16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it-IT" sz="16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it-IT" sz="1600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. </a:t>
                </a:r>
              </a:p>
              <a:p>
                <a:pPr marL="285750" indent="-285750" algn="just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it-IT" sz="1600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A partire da una condizione </a:t>
                </a:r>
                <a:r>
                  <a:rPr lang="es-ES" sz="1600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iniziale nota </a:t>
                </a:r>
                <a14:m>
                  <m:oMath xmlns:m="http://schemas.openxmlformats.org/officeDocument/2006/math">
                    <m:r>
                      <a:rPr lang="es-ES" sz="16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s-ES" sz="160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sz="1600" b="0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600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s-ES" sz="1600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s-ES" sz="16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 = </m:t>
                    </m:r>
                    <m:sSub>
                      <m:sSubPr>
                        <m:ctrlPr>
                          <a:rPr lang="it-IT" sz="16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bPr>
                      <m:e>
                        <m:r>
                          <a:rPr lang="es-ES" sz="16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s-ES" sz="16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it-IT" sz="1600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, il solutore approssima la soluzione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6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bPr>
                      <m:e>
                        <m:r>
                          <a:rPr lang="it-IT" sz="160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it-IT" sz="160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𝑛</m:t>
                        </m:r>
                        <m:r>
                          <a:rPr lang="it-IT" sz="160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it-IT" sz="1600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al tempo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6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bPr>
                      <m:e>
                        <m:r>
                          <a:rPr lang="it-IT" sz="160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it-IT" sz="160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𝑛</m:t>
                        </m:r>
                        <m:r>
                          <a:rPr lang="it-IT" sz="160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it-IT" sz="1600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basandosi sulle informazioni disponibili al tempo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6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bPr>
                      <m:e>
                        <m:r>
                          <a:rPr lang="it-IT" sz="160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it-IT" sz="160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it-IT" sz="1600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(e talvolta ai tempi precedenti).</a:t>
                </a:r>
              </a:p>
            </p:txBody>
          </p:sp>
        </mc:Choice>
        <mc:Fallback xmlns="">
          <p:sp>
            <p:nvSpPr>
              <p:cNvPr id="18" name="CasellaDiTesto 17">
                <a:extLst>
                  <a:ext uri="{FF2B5EF4-FFF2-40B4-BE49-F238E27FC236}">
                    <a16:creationId xmlns:a16="http://schemas.microsoft.com/office/drawing/2014/main" id="{9E8C9755-0085-9C5C-3372-A12EF377C6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118" y="738663"/>
                <a:ext cx="10645647" cy="1477328"/>
              </a:xfrm>
              <a:prstGeom prst="rect">
                <a:avLst/>
              </a:prstGeom>
              <a:blipFill>
                <a:blip r:embed="rId2"/>
                <a:stretch>
                  <a:fillRect l="-229" t="-1646" r="-745" b="-370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509E7DAC-4478-89CB-CA31-45B043CE8246}"/>
                  </a:ext>
                </a:extLst>
              </p:cNvPr>
              <p:cNvSpPr txBox="1"/>
              <p:nvPr/>
            </p:nvSpPr>
            <p:spPr>
              <a:xfrm>
                <a:off x="2281417" y="2382181"/>
                <a:ext cx="320026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16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Eulero Esplicito</a:t>
                </a:r>
              </a:p>
              <a:p>
                <a:endParaRPr lang="it-IT" sz="1600" b="1" dirty="0">
                  <a:solidFill>
                    <a:srgbClr val="0070C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6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pt-BR" sz="16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𝑛</m:t>
                          </m:r>
                          <m:r>
                            <a:rPr lang="pt-BR" sz="16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pt-BR" sz="16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16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pt-BR" sz="16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pt-BR" sz="16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+</m:t>
                      </m:r>
                      <m:r>
                        <a:rPr lang="pt-BR" sz="16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h𝑓</m:t>
                      </m:r>
                      <m:d>
                        <m:dPr>
                          <m:ctrlPr>
                            <a:rPr lang="pt-BR" sz="16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sz="1600" b="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600" b="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pt-BR" sz="1600" b="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pt-BR" sz="16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pt-BR" sz="1600" b="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600" b="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pt-BR" sz="1600" b="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it-IT" sz="1600" dirty="0">
                  <a:solidFill>
                    <a:srgbClr val="0070C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509E7DAC-4478-89CB-CA31-45B043CE82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1417" y="2382181"/>
                <a:ext cx="3200264" cy="830997"/>
              </a:xfrm>
              <a:prstGeom prst="rect">
                <a:avLst/>
              </a:prstGeom>
              <a:blipFill>
                <a:blip r:embed="rId3"/>
                <a:stretch>
                  <a:fillRect l="-952" t="-2941" b="-441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A3BAF421-8B75-D78A-BA59-8664EA665B40}"/>
                  </a:ext>
                </a:extLst>
              </p:cNvPr>
              <p:cNvSpPr txBox="1"/>
              <p:nvPr/>
            </p:nvSpPr>
            <p:spPr>
              <a:xfrm>
                <a:off x="2281416" y="3659831"/>
                <a:ext cx="3926344" cy="9380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1600" b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Crank-Nicolson</a:t>
                </a:r>
                <a:endParaRPr lang="it-IT" sz="1600" b="1" dirty="0">
                  <a:solidFill>
                    <a:srgbClr val="0070C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endParaRPr lang="it-IT" sz="1600" b="1" dirty="0">
                  <a:solidFill>
                    <a:srgbClr val="0070C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it-IT" sz="160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bPr>
                      <m:e>
                        <m:r>
                          <a:rPr lang="it-IT" sz="160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it-IT" sz="160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𝑛</m:t>
                        </m:r>
                        <m:r>
                          <a:rPr lang="it-IT" sz="160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it-IT" sz="16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it-IT" sz="1600" i="1" dirty="0" err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bPr>
                      <m:e>
                        <m:r>
                          <a:rPr lang="it-IT" sz="1600" i="1" dirty="0" err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it-IT" sz="1600" i="1" dirty="0" err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it-IT" sz="16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it-IT" sz="16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fPr>
                      <m:num>
                        <m:r>
                          <a:rPr lang="it-IT" sz="16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h</m:t>
                        </m:r>
                      </m:num>
                      <m:den>
                        <m:r>
                          <a:rPr lang="it-IT" sz="16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it-IT" sz="16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dPr>
                      <m:e>
                        <m:r>
                          <a:rPr lang="it-IT" sz="16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it-IT" sz="1600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it-IT" sz="1600" i="1" dirty="0" err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sz="1600" i="1" dirty="0" err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it-IT" sz="1600" i="1" dirty="0" err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it-IT" sz="1600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it-IT" sz="1600" i="1" dirty="0" err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sz="1600" i="1" dirty="0" err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it-IT" sz="1600" i="1" dirty="0" err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  <m:r>
                          <a:rPr lang="it-IT" sz="16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+</m:t>
                        </m:r>
                        <m:r>
                          <a:rPr lang="it-IT" sz="16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it-IT" sz="1600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it-IT" sz="1600" i="1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sz="1600" i="1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it-IT" sz="1600" i="1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it-IT" sz="1600" i="1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it-IT" sz="1600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it-IT" sz="1600" i="1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sz="1600" i="1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it-IT" sz="1600" i="1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it-IT" sz="1600" i="1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it-IT" sz="800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A3BAF421-8B75-D78A-BA59-8664EA665B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1416" y="3659831"/>
                <a:ext cx="3926344" cy="938077"/>
              </a:xfrm>
              <a:prstGeom prst="rect">
                <a:avLst/>
              </a:prstGeom>
              <a:blipFill>
                <a:blip r:embed="rId4"/>
                <a:stretch>
                  <a:fillRect l="-776" t="-259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636C5B80-D0BD-76C7-7A2A-0F9E59EF2EF8}"/>
                  </a:ext>
                </a:extLst>
              </p:cNvPr>
              <p:cNvSpPr txBox="1"/>
              <p:nvPr/>
            </p:nvSpPr>
            <p:spPr>
              <a:xfrm>
                <a:off x="2281417" y="4937481"/>
                <a:ext cx="7609740" cy="13774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16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Runge-</a:t>
                </a:r>
                <a:r>
                  <a:rPr lang="it-IT" sz="1600" b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Kutta</a:t>
                </a:r>
                <a:endParaRPr lang="it-IT" sz="1600" b="1" dirty="0">
                  <a:solidFill>
                    <a:srgbClr val="0070C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endParaRPr lang="it-IT" sz="1600" dirty="0">
                  <a:solidFill>
                    <a:srgbClr val="0070C0"/>
                  </a:solidFill>
                  <a:latin typeface="Cambria Math" panose="02040503050406030204" pitchFamily="18" charset="0"/>
                  <a:ea typeface="Cambria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160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6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it-IT" sz="160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it-IT" sz="16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=</m:t>
                      </m:r>
                      <m:r>
                        <a:rPr lang="it-IT" sz="16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it-IT" sz="16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sz="1600" b="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1600" b="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it-IT" sz="1600" b="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it-IT" sz="16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it-IT" sz="1600" b="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1600" b="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it-IT" sz="1600" b="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it-IT" sz="1600" b="0" i="0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it-IT" sz="16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6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it-IT" sz="16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it-IT" sz="16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=</m:t>
                      </m:r>
                      <m:r>
                        <a:rPr lang="it-IT" sz="16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it-IT" sz="16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sz="16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16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it-IT" sz="16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it-IT" sz="16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it-IT" sz="1600" b="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1600" b="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it-IT" sz="1600" b="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it-IT" sz="16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h</m:t>
                          </m:r>
                          <m:r>
                            <a:rPr lang="it-IT" sz="16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it-IT" sz="16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1600" b="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  </m:t>
                              </m:r>
                              <m:r>
                                <a:rPr lang="it-IT" sz="16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it-IT" sz="16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it-IT" sz="16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+</m:t>
                          </m:r>
                          <m:r>
                            <a:rPr lang="it-IT" sz="16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h</m:t>
                          </m:r>
                          <m:nary>
                            <m:naryPr>
                              <m:chr m:val="∑"/>
                              <m:ctrlPr>
                                <a:rPr lang="it-IT" sz="1600" b="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it-IT" sz="1600" b="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𝑗</m:t>
                              </m:r>
                              <m:r>
                                <a:rPr lang="it-IT" sz="1600" b="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it-IT" sz="1600" b="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𝑖</m:t>
                              </m:r>
                              <m:r>
                                <a:rPr lang="it-IT" sz="1600" b="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it-IT" sz="1600" b="0" i="1" dirty="0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1600" b="0" i="1" dirty="0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it-IT" sz="1600" b="0" i="1" dirty="0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it-IT" sz="1600" b="0" i="1" dirty="0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1600" b="0" i="1" dirty="0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it-IT" sz="1600" b="0" i="1" dirty="0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it-IT" sz="1600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,</m:t>
                      </m:r>
                      <m:r>
                        <a:rPr lang="it-IT" sz="16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it-IT" sz="16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it-IT" sz="1600" b="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1600" b="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it-IT" sz="1600" b="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𝑛</m:t>
                              </m:r>
                              <m:r>
                                <a:rPr lang="it-IT" sz="1600" b="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it-IT" sz="16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=</m:t>
                          </m:r>
                          <m:r>
                            <a:rPr lang="it-IT" sz="16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it-IT" sz="16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it-IT" sz="16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+</m:t>
                      </m:r>
                      <m:r>
                        <a:rPr lang="it-IT" sz="16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h</m:t>
                      </m:r>
                      <m:nary>
                        <m:naryPr>
                          <m:chr m:val="∑"/>
                          <m:ctrlPr>
                            <a:rPr lang="it-IT" sz="16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naryPr>
                        <m:sub>
                          <m:r>
                            <a:rPr lang="it-IT" sz="16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𝑖</m:t>
                          </m:r>
                          <m:r>
                            <a:rPr lang="it-IT" sz="16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it-IT" sz="16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𝑟</m:t>
                          </m:r>
                        </m:sup>
                        <m:e>
                          <m:sSub>
                            <m:sSubPr>
                              <m:ctrlPr>
                                <a:rPr lang="it-IT" sz="16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1600" b="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it-IT" sz="16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it-IT" sz="16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16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it-IT" sz="1600" b="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it-IT" sz="16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      </m:t>
                      </m:r>
                    </m:oMath>
                  </m:oMathPara>
                </a14:m>
                <a:endParaRPr lang="it-IT" sz="1600" dirty="0">
                  <a:solidFill>
                    <a:srgbClr val="0070C0"/>
                  </a:solidFill>
                  <a:latin typeface="Cambria Math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636C5B80-D0BD-76C7-7A2A-0F9E59EF2E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1417" y="4937481"/>
                <a:ext cx="7609740" cy="1377493"/>
              </a:xfrm>
              <a:prstGeom prst="rect">
                <a:avLst/>
              </a:prstGeom>
              <a:blipFill>
                <a:blip r:embed="rId5"/>
                <a:stretch>
                  <a:fillRect l="-400" t="-177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asellaDiTesto 15">
                <a:extLst>
                  <a:ext uri="{FF2B5EF4-FFF2-40B4-BE49-F238E27FC236}">
                    <a16:creationId xmlns:a16="http://schemas.microsoft.com/office/drawing/2014/main" id="{2F8D5CC2-6153-CA37-C21F-4BE22455B122}"/>
                  </a:ext>
                </a:extLst>
              </p:cNvPr>
              <p:cNvSpPr txBox="1"/>
              <p:nvPr/>
            </p:nvSpPr>
            <p:spPr>
              <a:xfrm>
                <a:off x="6690893" y="2382180"/>
                <a:ext cx="320026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16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Eulero Implicito</a:t>
                </a:r>
                <a:br>
                  <a:rPr lang="it-IT" sz="16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</a:br>
                <a:br>
                  <a:rPr lang="it-IT" sz="16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s-ES" sz="160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bPr>
                      <m:e>
                        <m:r>
                          <a:rPr lang="es-ES" sz="160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s-ES" sz="160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𝑛</m:t>
                        </m:r>
                        <m:r>
                          <a:rPr lang="es-ES" sz="160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s-ES" sz="16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ES" sz="160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bPr>
                      <m:e>
                        <m:r>
                          <a:rPr lang="es-ES" sz="160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s-ES" sz="160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s-ES" sz="16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+</m:t>
                    </m:r>
                    <m:r>
                      <a:rPr lang="es-ES" sz="16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h𝑓</m:t>
                    </m:r>
                    <m:d>
                      <m:dPr>
                        <m:ctrlPr>
                          <a:rPr lang="es-ES" sz="160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" sz="1600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600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s-ES" sz="1600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𝑛</m:t>
                            </m:r>
                            <m:r>
                              <a:rPr lang="es-ES" sz="1600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s-ES" sz="160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s-ES" sz="1600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600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s-ES" sz="1600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𝑛</m:t>
                            </m:r>
                            <m:r>
                              <a:rPr lang="es-ES" sz="1600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</m:oMath>
                </a14:m>
                <a:r>
                  <a:rPr lang="it-IT" sz="1600" dirty="0">
                    <a:solidFill>
                      <a:srgbClr val="0070C0"/>
                    </a:solidFill>
                    <a:ea typeface="Cambria" panose="020405030504060302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6" name="CasellaDiTesto 15">
                <a:extLst>
                  <a:ext uri="{FF2B5EF4-FFF2-40B4-BE49-F238E27FC236}">
                    <a16:creationId xmlns:a16="http://schemas.microsoft.com/office/drawing/2014/main" id="{2F8D5CC2-6153-CA37-C21F-4BE22455B1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0893" y="2382180"/>
                <a:ext cx="3200264" cy="830997"/>
              </a:xfrm>
              <a:prstGeom prst="rect">
                <a:avLst/>
              </a:prstGeom>
              <a:blipFill>
                <a:blip r:embed="rId6"/>
                <a:stretch>
                  <a:fillRect l="-1143" t="-2941" b="-882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asellaDiTesto 16">
                <a:extLst>
                  <a:ext uri="{FF2B5EF4-FFF2-40B4-BE49-F238E27FC236}">
                    <a16:creationId xmlns:a16="http://schemas.microsoft.com/office/drawing/2014/main" id="{F2B4C900-3CCE-318E-DB36-B863EC83EF05}"/>
                  </a:ext>
                </a:extLst>
              </p:cNvPr>
              <p:cNvSpPr txBox="1"/>
              <p:nvPr/>
            </p:nvSpPr>
            <p:spPr>
              <a:xfrm>
                <a:off x="6690893" y="3659830"/>
                <a:ext cx="3200264" cy="8253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1600" b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Leapfrog</a:t>
                </a:r>
                <a:endParaRPr lang="it-IT" sz="1600" b="1" dirty="0">
                  <a:solidFill>
                    <a:srgbClr val="0070C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endParaRPr lang="it-IT" sz="1600" b="1" dirty="0">
                  <a:solidFill>
                    <a:srgbClr val="0070C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it-IT" sz="160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bPr>
                      <m:e>
                        <m:r>
                          <a:rPr lang="it-IT" sz="160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it-IT" sz="160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𝑛</m:t>
                        </m:r>
                        <m:r>
                          <a:rPr lang="it-IT" sz="160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it-IT" sz="16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it-IT" sz="160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bPr>
                      <m:e>
                        <m:r>
                          <a:rPr lang="it-IT" sz="160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it-IT" sz="160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𝑛</m:t>
                        </m:r>
                        <m:r>
                          <a:rPr lang="it-IT" sz="160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it-IT" sz="16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+2</m:t>
                    </m:r>
                    <m:r>
                      <a:rPr lang="it-IT" sz="16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h𝑓</m:t>
                    </m:r>
                    <m:d>
                      <m:dPr>
                        <m:ctrlPr>
                          <a:rPr lang="it-IT" sz="160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sz="1600" i="1" dirty="0" err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600" i="1" dirty="0" err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it-IT" sz="1600" i="1" dirty="0" err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it-IT" sz="16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it-IT" sz="1600" i="1" dirty="0" err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600" i="1" dirty="0" err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it-IT" sz="1600" i="1" dirty="0" err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it-IT" sz="800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7" name="CasellaDiTesto 16">
                <a:extLst>
                  <a:ext uri="{FF2B5EF4-FFF2-40B4-BE49-F238E27FC236}">
                    <a16:creationId xmlns:a16="http://schemas.microsoft.com/office/drawing/2014/main" id="{F2B4C900-3CCE-318E-DB36-B863EC83EF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0893" y="3659830"/>
                <a:ext cx="3200264" cy="825354"/>
              </a:xfrm>
              <a:prstGeom prst="rect">
                <a:avLst/>
              </a:prstGeom>
              <a:blipFill>
                <a:blip r:embed="rId7"/>
                <a:stretch>
                  <a:fillRect l="-1143" t="-2941" b="-441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28540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7CB43-53FB-CD84-AB78-D54113CC6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9">
            <a:extLst>
              <a:ext uri="{FF2B5EF4-FFF2-40B4-BE49-F238E27FC236}">
                <a16:creationId xmlns:a16="http://schemas.microsoft.com/office/drawing/2014/main" id="{0C2DD341-2B4B-9FA8-C4C7-30ACDA9A55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" name="Rectangle 11">
            <a:extLst>
              <a:ext uri="{FF2B5EF4-FFF2-40B4-BE49-F238E27FC236}">
                <a16:creationId xmlns:a16="http://schemas.microsoft.com/office/drawing/2014/main" id="{AC599179-5C99-2C38-4422-74B7AEBD8F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" name="Rectangle 13">
            <a:extLst>
              <a:ext uri="{FF2B5EF4-FFF2-40B4-BE49-F238E27FC236}">
                <a16:creationId xmlns:a16="http://schemas.microsoft.com/office/drawing/2014/main" id="{97B01CB5-CB9E-E1E8-E1A9-BB2534041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ED9004F1-3904-031C-BE10-50AEC66A3390}"/>
              </a:ext>
            </a:extLst>
          </p:cNvPr>
          <p:cNvCxnSpPr>
            <a:cxnSpLocks/>
          </p:cNvCxnSpPr>
          <p:nvPr/>
        </p:nvCxnSpPr>
        <p:spPr>
          <a:xfrm>
            <a:off x="0" y="6482080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B47BA5C1-02A8-4A29-B656-CA0663019887}"/>
              </a:ext>
            </a:extLst>
          </p:cNvPr>
          <p:cNvCxnSpPr>
            <a:cxnSpLocks/>
          </p:cNvCxnSpPr>
          <p:nvPr/>
        </p:nvCxnSpPr>
        <p:spPr>
          <a:xfrm>
            <a:off x="8592000" y="6482080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4A30B7BD-E925-B799-A0BC-88D0204AD20B}"/>
              </a:ext>
            </a:extLst>
          </p:cNvPr>
          <p:cNvCxnSpPr>
            <a:cxnSpLocks/>
          </p:cNvCxnSpPr>
          <p:nvPr/>
        </p:nvCxnSpPr>
        <p:spPr>
          <a:xfrm>
            <a:off x="0" y="375919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F57CD90A-C305-CEF2-4926-14E914F96265}"/>
              </a:ext>
            </a:extLst>
          </p:cNvPr>
          <p:cNvCxnSpPr>
            <a:cxnSpLocks/>
          </p:cNvCxnSpPr>
          <p:nvPr/>
        </p:nvCxnSpPr>
        <p:spPr>
          <a:xfrm>
            <a:off x="8592000" y="375919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05E3198F-F773-7307-529B-599FA92505BF}"/>
              </a:ext>
            </a:extLst>
          </p:cNvPr>
          <p:cNvSpPr txBox="1"/>
          <p:nvPr/>
        </p:nvSpPr>
        <p:spPr>
          <a:xfrm>
            <a:off x="281549" y="6488668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11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33511BED-69EB-9199-650B-84D70758748D}"/>
              </a:ext>
            </a:extLst>
          </p:cNvPr>
          <p:cNvSpPr txBox="1"/>
          <p:nvPr/>
        </p:nvSpPr>
        <p:spPr>
          <a:xfrm>
            <a:off x="8310452" y="6488668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Andrea Spinelli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4328C5AC-5128-1D3E-1DC5-04D466214D79}"/>
              </a:ext>
            </a:extLst>
          </p:cNvPr>
          <p:cNvSpPr txBox="1"/>
          <p:nvPr/>
        </p:nvSpPr>
        <p:spPr>
          <a:xfrm>
            <a:off x="8310452" y="-6587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Physical-Informed</a:t>
            </a:r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Neural</a:t>
            </a:r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Network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2869CFF2-4087-D164-B75F-2C2DEC3AA6CD}"/>
              </a:ext>
            </a:extLst>
          </p:cNvPr>
          <p:cNvSpPr txBox="1"/>
          <p:nvPr/>
        </p:nvSpPr>
        <p:spPr>
          <a:xfrm>
            <a:off x="281549" y="-6587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Background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C754FF6E-AFC1-69C2-CB37-98FFF5AD4679}"/>
              </a:ext>
            </a:extLst>
          </p:cNvPr>
          <p:cNvSpPr txBox="1"/>
          <p:nvPr/>
        </p:nvSpPr>
        <p:spPr>
          <a:xfrm>
            <a:off x="833118" y="738663"/>
            <a:ext cx="10645647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Le </a:t>
            </a:r>
            <a:r>
              <a:rPr lang="en-US" sz="16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Physics-Informed Neural Networks </a:t>
            </a:r>
            <a:r>
              <a:rPr lang="en-US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US" sz="16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PINN</a:t>
            </a:r>
            <a:r>
              <a:rPr lang="en-US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 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rappresentano un’ibridazione tra il mondo dell’apprendimento profondo e i principi primi della fisica. 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L’idea fondamentale è sfruttare la straordinaria capacità delle reti neurali di agire come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approssimatori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universali di funzioni, per apprendere una funzione che sia soluzione di una specifica equazione differenziale, incorporando la conoscenza del modella matematico direttamente nell’addestramento.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68982483-69BA-3E0D-CCAE-93F3FCD788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117" y="2202945"/>
            <a:ext cx="10645647" cy="3624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4640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426C4-6217-3AF7-1C0B-61708B953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Straight Connector 9">
            <a:extLst>
              <a:ext uri="{FF2B5EF4-FFF2-40B4-BE49-F238E27FC236}">
                <a16:creationId xmlns:a16="http://schemas.microsoft.com/office/drawing/2014/main" id="{0D6DDF59-23CE-B414-A2FF-BFE9B37EA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0" name="Rectangle 11">
            <a:extLst>
              <a:ext uri="{FF2B5EF4-FFF2-40B4-BE49-F238E27FC236}">
                <a16:creationId xmlns:a16="http://schemas.microsoft.com/office/drawing/2014/main" id="{71945370-AA1E-7EA6-E5FE-96DC7AFD0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1" name="Rectangle 13">
            <a:extLst>
              <a:ext uri="{FF2B5EF4-FFF2-40B4-BE49-F238E27FC236}">
                <a16:creationId xmlns:a16="http://schemas.microsoft.com/office/drawing/2014/main" id="{02DBFD35-C165-DAAB-9E20-68B8A90BE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Immagine 31">
            <a:extLst>
              <a:ext uri="{FF2B5EF4-FFF2-40B4-BE49-F238E27FC236}">
                <a16:creationId xmlns:a16="http://schemas.microsoft.com/office/drawing/2014/main" id="{41001FDE-81F1-B5E8-5B86-D4E03A8CAE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7708" y="1862101"/>
            <a:ext cx="5532904" cy="3064108"/>
          </a:xfrm>
          <a:prstGeom prst="rect">
            <a:avLst/>
          </a:prstGeom>
          <a:ln>
            <a:noFill/>
          </a:ln>
        </p:spPr>
      </p:pic>
      <p:cxnSp>
        <p:nvCxnSpPr>
          <p:cNvPr id="33" name="Connettore diritto 32">
            <a:extLst>
              <a:ext uri="{FF2B5EF4-FFF2-40B4-BE49-F238E27FC236}">
                <a16:creationId xmlns:a16="http://schemas.microsoft.com/office/drawing/2014/main" id="{32E09F0C-D3B3-AB05-C5C3-DA153A5C3366}"/>
              </a:ext>
            </a:extLst>
          </p:cNvPr>
          <p:cNvCxnSpPr>
            <a:cxnSpLocks/>
          </p:cNvCxnSpPr>
          <p:nvPr/>
        </p:nvCxnSpPr>
        <p:spPr>
          <a:xfrm>
            <a:off x="6116320" y="1842552"/>
            <a:ext cx="0" cy="317289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5C64F954-A0D7-4D35-8E2F-D50BF913040B}"/>
              </a:ext>
            </a:extLst>
          </p:cNvPr>
          <p:cNvSpPr txBox="1"/>
          <p:nvPr/>
        </p:nvSpPr>
        <p:spPr>
          <a:xfrm>
            <a:off x="359215" y="1901438"/>
            <a:ext cx="5397890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b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PINNs</a:t>
            </a:r>
            <a:r>
              <a:rPr lang="it-IT" sz="32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vs ODE </a:t>
            </a:r>
            <a:r>
              <a:rPr lang="it-IT" sz="3200" b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Solvers</a:t>
            </a:r>
            <a:r>
              <a:rPr lang="it-IT" sz="32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3200" b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Numerical</a:t>
            </a:r>
            <a:r>
              <a:rPr lang="it-IT" sz="32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3200" b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Experiments</a:t>
            </a:r>
            <a:r>
              <a:rPr lang="it-IT" sz="32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Benchmark</a:t>
            </a:r>
          </a:p>
          <a:p>
            <a:pPr algn="ctr"/>
            <a:endParaRPr lang="it-IT" sz="3200" b="1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it-IT" sz="24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3.	Metodologia</a:t>
            </a:r>
            <a:endParaRPr lang="it-IT" sz="2400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35" name="Connettore diritto 34">
            <a:extLst>
              <a:ext uri="{FF2B5EF4-FFF2-40B4-BE49-F238E27FC236}">
                <a16:creationId xmlns:a16="http://schemas.microsoft.com/office/drawing/2014/main" id="{180150B2-4766-AEFB-9945-945CE4F20622}"/>
              </a:ext>
            </a:extLst>
          </p:cNvPr>
          <p:cNvCxnSpPr>
            <a:cxnSpLocks/>
          </p:cNvCxnSpPr>
          <p:nvPr/>
        </p:nvCxnSpPr>
        <p:spPr>
          <a:xfrm>
            <a:off x="0" y="6482080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6" name="Connettore diritto 35">
            <a:extLst>
              <a:ext uri="{FF2B5EF4-FFF2-40B4-BE49-F238E27FC236}">
                <a16:creationId xmlns:a16="http://schemas.microsoft.com/office/drawing/2014/main" id="{7526FFEE-AEB7-3E23-1F59-F595EE7DA999}"/>
              </a:ext>
            </a:extLst>
          </p:cNvPr>
          <p:cNvCxnSpPr>
            <a:cxnSpLocks/>
          </p:cNvCxnSpPr>
          <p:nvPr/>
        </p:nvCxnSpPr>
        <p:spPr>
          <a:xfrm>
            <a:off x="8592000" y="6482080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7" name="Connettore diritto 36">
            <a:extLst>
              <a:ext uri="{FF2B5EF4-FFF2-40B4-BE49-F238E27FC236}">
                <a16:creationId xmlns:a16="http://schemas.microsoft.com/office/drawing/2014/main" id="{9F2527EA-3EA7-7802-F623-721038A28CF1}"/>
              </a:ext>
            </a:extLst>
          </p:cNvPr>
          <p:cNvCxnSpPr>
            <a:cxnSpLocks/>
          </p:cNvCxnSpPr>
          <p:nvPr/>
        </p:nvCxnSpPr>
        <p:spPr>
          <a:xfrm>
            <a:off x="0" y="375919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8" name="Connettore diritto 37">
            <a:extLst>
              <a:ext uri="{FF2B5EF4-FFF2-40B4-BE49-F238E27FC236}">
                <a16:creationId xmlns:a16="http://schemas.microsoft.com/office/drawing/2014/main" id="{F9C8A29D-A9C9-DA30-63A7-30266B6CEC60}"/>
              </a:ext>
            </a:extLst>
          </p:cNvPr>
          <p:cNvCxnSpPr>
            <a:cxnSpLocks/>
          </p:cNvCxnSpPr>
          <p:nvPr/>
        </p:nvCxnSpPr>
        <p:spPr>
          <a:xfrm>
            <a:off x="8592000" y="375919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ADE22FDE-70BE-2970-9B94-BA8EDE5CA9DA}"/>
              </a:ext>
            </a:extLst>
          </p:cNvPr>
          <p:cNvSpPr txBox="1"/>
          <p:nvPr/>
        </p:nvSpPr>
        <p:spPr>
          <a:xfrm>
            <a:off x="8310452" y="-6587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</p:txBody>
      </p:sp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85321440-8F72-7461-7E0D-48243D9A535E}"/>
              </a:ext>
            </a:extLst>
          </p:cNvPr>
          <p:cNvSpPr txBox="1"/>
          <p:nvPr/>
        </p:nvSpPr>
        <p:spPr>
          <a:xfrm>
            <a:off x="281549" y="6482080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</p:txBody>
      </p: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05942D35-E358-E745-500F-292D800543FF}"/>
              </a:ext>
            </a:extLst>
          </p:cNvPr>
          <p:cNvSpPr txBox="1"/>
          <p:nvPr/>
        </p:nvSpPr>
        <p:spPr>
          <a:xfrm>
            <a:off x="281549" y="-6587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704880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64FFC-24F7-D3E4-D18C-E194127A4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9">
            <a:extLst>
              <a:ext uri="{FF2B5EF4-FFF2-40B4-BE49-F238E27FC236}">
                <a16:creationId xmlns:a16="http://schemas.microsoft.com/office/drawing/2014/main" id="{54A916AC-05A9-8781-54A7-37C8C6DA2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" name="Rectangle 11">
            <a:extLst>
              <a:ext uri="{FF2B5EF4-FFF2-40B4-BE49-F238E27FC236}">
                <a16:creationId xmlns:a16="http://schemas.microsoft.com/office/drawing/2014/main" id="{D055D92B-77FF-06B3-7CA9-151A57B76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" name="Rectangle 13">
            <a:extLst>
              <a:ext uri="{FF2B5EF4-FFF2-40B4-BE49-F238E27FC236}">
                <a16:creationId xmlns:a16="http://schemas.microsoft.com/office/drawing/2014/main" id="{262486FA-3E1A-62E0-DA6D-C53F200EA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7052AB92-4CDB-0921-CC30-BA9CC194F943}"/>
              </a:ext>
            </a:extLst>
          </p:cNvPr>
          <p:cNvCxnSpPr>
            <a:cxnSpLocks/>
          </p:cNvCxnSpPr>
          <p:nvPr/>
        </p:nvCxnSpPr>
        <p:spPr>
          <a:xfrm>
            <a:off x="0" y="6482080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39FCC6FC-6FCF-0A7C-8939-A76692787456}"/>
              </a:ext>
            </a:extLst>
          </p:cNvPr>
          <p:cNvCxnSpPr>
            <a:cxnSpLocks/>
          </p:cNvCxnSpPr>
          <p:nvPr/>
        </p:nvCxnSpPr>
        <p:spPr>
          <a:xfrm>
            <a:off x="8592000" y="6482080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76CD6F9F-E399-D2C2-C6C5-4D5B58C32F2C}"/>
              </a:ext>
            </a:extLst>
          </p:cNvPr>
          <p:cNvCxnSpPr>
            <a:cxnSpLocks/>
          </p:cNvCxnSpPr>
          <p:nvPr/>
        </p:nvCxnSpPr>
        <p:spPr>
          <a:xfrm>
            <a:off x="0" y="375919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3179B9E0-E681-6C8B-E42F-89E3965342BA}"/>
              </a:ext>
            </a:extLst>
          </p:cNvPr>
          <p:cNvCxnSpPr>
            <a:cxnSpLocks/>
          </p:cNvCxnSpPr>
          <p:nvPr/>
        </p:nvCxnSpPr>
        <p:spPr>
          <a:xfrm>
            <a:off x="8592000" y="375919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B0F366F-6EB4-5AB7-DC09-C55BD72EA754}"/>
              </a:ext>
            </a:extLst>
          </p:cNvPr>
          <p:cNvSpPr txBox="1"/>
          <p:nvPr/>
        </p:nvSpPr>
        <p:spPr>
          <a:xfrm>
            <a:off x="281549" y="6488668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13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D94B5ED7-0544-3E41-1896-8D7571890E92}"/>
              </a:ext>
            </a:extLst>
          </p:cNvPr>
          <p:cNvSpPr txBox="1"/>
          <p:nvPr/>
        </p:nvSpPr>
        <p:spPr>
          <a:xfrm>
            <a:off x="8310452" y="6488668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Andrea Spinelli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AF1E839C-8ECA-8676-61B6-B45E60EB7FC7}"/>
              </a:ext>
            </a:extLst>
          </p:cNvPr>
          <p:cNvSpPr txBox="1"/>
          <p:nvPr/>
        </p:nvSpPr>
        <p:spPr>
          <a:xfrm>
            <a:off x="8310452" y="-6587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Problema test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3A5EE0D-3707-DE18-6FA7-DF20E3AD27CF}"/>
              </a:ext>
            </a:extLst>
          </p:cNvPr>
          <p:cNvSpPr txBox="1"/>
          <p:nvPr/>
        </p:nvSpPr>
        <p:spPr>
          <a:xfrm>
            <a:off x="281549" y="-6587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Metodologia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sellaDiTesto 17">
                <a:extLst>
                  <a:ext uri="{FF2B5EF4-FFF2-40B4-BE49-F238E27FC236}">
                    <a16:creationId xmlns:a16="http://schemas.microsoft.com/office/drawing/2014/main" id="{C9D94005-B5F9-F979-A086-9CEA952DFD0E}"/>
                  </a:ext>
                </a:extLst>
              </p:cNvPr>
              <p:cNvSpPr txBox="1"/>
              <p:nvPr/>
            </p:nvSpPr>
            <p:spPr>
              <a:xfrm>
                <a:off x="833119" y="738663"/>
                <a:ext cx="10645649" cy="51816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 algn="just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it-IT" sz="1600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Per ciascun problema ne si è analizzata la sua formulazione e dopodiché si è effettuata un’operazione di conversione per renderli adeguati ad un’analisi comparativa (il nostro problema campione sarà Van </a:t>
                </a:r>
                <a:r>
                  <a:rPr lang="it-IT" sz="1600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Der</a:t>
                </a:r>
                <a:r>
                  <a:rPr lang="it-IT" sz="1600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Pol):</a:t>
                </a:r>
              </a:p>
              <a:p>
                <a:pPr marL="285750" indent="-285750" algn="just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it-IT" sz="1600" dirty="0">
                  <a:solidFill>
                    <a:srgbClr val="0070C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742950" lvl="1" indent="-285750" algn="just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it-IT" sz="16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Formulazione matematica</a:t>
                </a:r>
                <a:r>
                  <a:rPr lang="it-IT" sz="1600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, l’oscillatore di Van </a:t>
                </a:r>
                <a:r>
                  <a:rPr lang="it-IT" sz="1600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Der</a:t>
                </a:r>
                <a:r>
                  <a:rPr lang="it-IT" sz="1600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Pol è descritto dalla seguente equazione differenziale di secondo ordine</a:t>
                </a:r>
              </a:p>
              <a:p>
                <a:pPr lvl="1" algn="just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it-IT" sz="160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it-IT" sz="160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it-IT" sz="160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it-IT" sz="160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it-IT" sz="160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it-IT" sz="160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it-IT" sz="160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it-IT" sz="160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it-IT" sz="160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it-IT" sz="160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−</m:t>
                      </m:r>
                      <m:r>
                        <a:rPr lang="it-IT" sz="160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𝜇</m:t>
                      </m:r>
                      <m:d>
                        <m:dPr>
                          <m:ctrlPr>
                            <a:rPr lang="it-IT" sz="160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60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it-IT" sz="160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it-IT" sz="160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it-IT" sz="160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f>
                        <m:fPr>
                          <m:ctrlPr>
                            <a:rPr lang="it-IT" sz="160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sz="160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it-IT" sz="1600" i="1" dirty="0" err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it-IT" sz="16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+</m:t>
                      </m:r>
                      <m:r>
                        <a:rPr lang="it-IT" sz="16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𝑥</m:t>
                      </m:r>
                      <m:r>
                        <a:rPr lang="it-IT" sz="16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it-IT" sz="1600" dirty="0">
                  <a:solidFill>
                    <a:srgbClr val="0070C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720725" algn="just">
                  <a:spcAft>
                    <a:spcPts val="600"/>
                  </a:spcAft>
                </a:pPr>
                <a:r>
                  <a:rPr lang="it-IT" sz="1600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Il termine </a:t>
                </a:r>
                <a14:m>
                  <m:oMath xmlns:m="http://schemas.openxmlformats.org/officeDocument/2006/math">
                    <m:r>
                      <a:rPr lang="it-IT" sz="160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it-IT" sz="16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dPr>
                      <m:e>
                        <m:r>
                          <a:rPr lang="it-IT" sz="1600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1</m:t>
                        </m:r>
                        <m:r>
                          <a:rPr lang="it-IT" sz="1600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it-IT" sz="1600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IT" sz="1600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it-IT" sz="1600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it-IT" sz="160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𝑥</m:t>
                    </m:r>
                    <m:r>
                      <a:rPr lang="it-IT" sz="160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̇</m:t>
                    </m:r>
                  </m:oMath>
                </a14:m>
                <a:r>
                  <a:rPr lang="it-IT" sz="1600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agisce come un meccanismo di smorzamento non lineare, rivelandone il comportamento unico del sistema:</a:t>
                </a:r>
              </a:p>
              <a:p>
                <a:pPr marL="1006475" indent="-285750" algn="just">
                  <a:spcAft>
                    <a:spcPts val="600"/>
                  </a:spcAft>
                  <a:buFont typeface="Courier New" panose="02070309020205020404" pitchFamily="49" charset="0"/>
                  <a:buChar char="o"/>
                </a:pPr>
                <a:r>
                  <a:rPr lang="it-IT" sz="1600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Se</a:t>
                </a:r>
                <a:r>
                  <a:rPr lang="it-IT" sz="1600" dirty="0">
                    <a:solidFill>
                      <a:srgbClr val="0070C0"/>
                    </a:solidFill>
                    <a:ea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it-IT" sz="160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dPr>
                      <m:e>
                        <m:r>
                          <a:rPr lang="it-IT" sz="16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it-IT" sz="16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&lt;</m:t>
                    </m:r>
                    <m:r>
                      <a:rPr lang="it-IT" sz="16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0</m:t>
                    </m:r>
                    <m:r>
                      <a:rPr lang="it-IT" sz="16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,</m:t>
                    </m:r>
                  </m:oMath>
                </a14:m>
                <a:r>
                  <a:rPr lang="it-IT" sz="1600" b="0" dirty="0">
                    <a:solidFill>
                      <a:srgbClr val="0070C0"/>
                    </a:solidFill>
                    <a:ea typeface="Cambria" panose="02040503050406030204" pitchFamily="18" charset="0"/>
                  </a:rPr>
                  <a:t> </a:t>
                </a:r>
                <a:r>
                  <a:rPr lang="it-IT" sz="1600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immissione di energia nel sistema</a:t>
                </a:r>
                <a:r>
                  <a:rPr lang="it-IT" sz="1600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, amplifica le oscillazioni e ad allontana le traiettorie dall’origine.</a:t>
                </a:r>
                <a:endParaRPr lang="it-IT" sz="1600" b="0" dirty="0">
                  <a:solidFill>
                    <a:srgbClr val="0070C0"/>
                  </a:solidFill>
                  <a:ea typeface="Cambria" panose="02040503050406030204" pitchFamily="18" charset="0"/>
                </a:endParaRPr>
              </a:p>
              <a:p>
                <a:pPr marL="1006475" indent="-285750" algn="just">
                  <a:spcAft>
                    <a:spcPts val="600"/>
                  </a:spcAft>
                  <a:buFont typeface="Courier New" panose="02070309020205020404" pitchFamily="49" charset="0"/>
                  <a:buChar char="o"/>
                </a:pPr>
                <a:r>
                  <a:rPr lang="it-IT" sz="1600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Se</a:t>
                </a:r>
                <a:r>
                  <a:rPr lang="it-IT" sz="1600" dirty="0">
                    <a:solidFill>
                      <a:srgbClr val="0070C0"/>
                    </a:solidFill>
                    <a:ea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it-IT" sz="16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dPr>
                      <m:e>
                        <m:r>
                          <a:rPr lang="it-IT" sz="16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it-IT" sz="16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&gt;</m:t>
                    </m:r>
                    <m:r>
                      <a:rPr lang="it-IT" sz="16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0</m:t>
                    </m:r>
                    <m:r>
                      <a:rPr lang="it-IT" sz="16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,</m:t>
                    </m:r>
                  </m:oMath>
                </a14:m>
                <a:r>
                  <a:rPr lang="it-IT" sz="1600" dirty="0">
                    <a:solidFill>
                      <a:srgbClr val="0070C0"/>
                    </a:solidFill>
                    <a:ea typeface="Cambria" panose="02040503050406030204" pitchFamily="18" charset="0"/>
                  </a:rPr>
                  <a:t> </a:t>
                </a:r>
                <a:r>
                  <a:rPr lang="it-IT" sz="1600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dissipazione di energia</a:t>
                </a:r>
                <a:r>
                  <a:rPr lang="it-IT" sz="1600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, che smorza le oscillazioni e riporta le traiettorie verso l’origine</a:t>
                </a:r>
              </a:p>
              <a:p>
                <a:pPr marL="720725" algn="just">
                  <a:spcAft>
                    <a:spcPts val="600"/>
                  </a:spcAft>
                </a:pPr>
                <a:r>
                  <a:rPr lang="it-IT" sz="1600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Questa dualità comporta un ciclo limite per cui la soluzione converge in una oscillazione periodica.</a:t>
                </a:r>
              </a:p>
              <a:p>
                <a:pPr marL="742950" lvl="1" indent="-285750" algn="just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it-IT" sz="16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Conversione al primo ordine</a:t>
                </a:r>
                <a:r>
                  <a:rPr lang="it-IT" sz="1600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, per essere risolto in modo agevole dalla PINN il problema viene convertito in due sistemi del primo ordine.</a:t>
                </a:r>
              </a:p>
              <a:p>
                <a:pPr marL="720725" lvl="1" algn="just">
                  <a:spcAft>
                    <a:spcPts val="600"/>
                  </a:spcAft>
                </a:pPr>
                <a:r>
                  <a:rPr lang="it-IT" sz="1600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Isolando la derivata seconda e introducendo un vettore di stato possiamo ottenere</a:t>
                </a:r>
              </a:p>
              <a:p>
                <a:pPr marL="720725" lvl="1" algn="just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it-IT" sz="16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sz="16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𝑑</m:t>
                          </m:r>
                          <m:r>
                            <a:rPr lang="it-IT" sz="16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𝒚</m:t>
                          </m:r>
                        </m:num>
                        <m:den>
                          <m:r>
                            <a:rPr lang="it-IT" sz="16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it-IT" sz="16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=</m:t>
                      </m:r>
                      <m:r>
                        <a:rPr lang="it-IT" sz="16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it-IT" sz="16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6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𝑡</m:t>
                          </m:r>
                          <m:r>
                            <a:rPr lang="it-IT" sz="16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,</m:t>
                          </m:r>
                          <m:r>
                            <a:rPr lang="it-IT" sz="16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𝒚</m:t>
                          </m:r>
                        </m:e>
                      </m:d>
                      <m:r>
                        <a:rPr lang="it-IT" sz="16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it-IT" sz="16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it-IT" sz="16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it-IT" sz="16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16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it-IT" sz="16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it-IT" sz="16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𝜇</m:t>
                              </m:r>
                              <m:d>
                                <m:dPr>
                                  <m:ctrlPr>
                                    <a:rPr lang="it-IT" sz="16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it-IT" sz="16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it-IT" sz="16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it-IT" sz="16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  <a:ea typeface="Cambria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it-IT" sz="16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  <a:ea typeface="Cambria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it-IT" sz="16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  <a:ea typeface="Cambria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it-IT" sz="16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  <a:ea typeface="Cambria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d>
                              <m:sSub>
                                <m:sSubPr>
                                  <m:ctrlPr>
                                    <a:rPr lang="it-IT" sz="16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16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it-IT" sz="16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it-IT" sz="16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it-IT" sz="16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16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it-IT" sz="16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it-IT" sz="1600" i="1" dirty="0">
                  <a:solidFill>
                    <a:srgbClr val="0070C0"/>
                  </a:solidFill>
                  <a:latin typeface="Cambria Math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8" name="CasellaDiTesto 17">
                <a:extLst>
                  <a:ext uri="{FF2B5EF4-FFF2-40B4-BE49-F238E27FC236}">
                    <a16:creationId xmlns:a16="http://schemas.microsoft.com/office/drawing/2014/main" id="{C9D94005-B5F9-F979-A086-9CEA952DFD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119" y="738663"/>
                <a:ext cx="10645649" cy="5181675"/>
              </a:xfrm>
              <a:prstGeom prst="rect">
                <a:avLst/>
              </a:prstGeom>
              <a:blipFill>
                <a:blip r:embed="rId2"/>
                <a:stretch>
                  <a:fillRect l="-229" t="-471" r="-74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85826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C46E2-B274-05D5-8922-131F0BDE6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9">
            <a:extLst>
              <a:ext uri="{FF2B5EF4-FFF2-40B4-BE49-F238E27FC236}">
                <a16:creationId xmlns:a16="http://schemas.microsoft.com/office/drawing/2014/main" id="{1EACE8FE-580B-1CB4-0682-911521665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" name="Rectangle 11">
            <a:extLst>
              <a:ext uri="{FF2B5EF4-FFF2-40B4-BE49-F238E27FC236}">
                <a16:creationId xmlns:a16="http://schemas.microsoft.com/office/drawing/2014/main" id="{EEA84A64-3CFB-D869-A678-262F54AFE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" name="Rectangle 13">
            <a:extLst>
              <a:ext uri="{FF2B5EF4-FFF2-40B4-BE49-F238E27FC236}">
                <a16:creationId xmlns:a16="http://schemas.microsoft.com/office/drawing/2014/main" id="{A8DD3CF4-AD04-34D5-52F8-91D6605E8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6DF3AC96-58A0-4811-BF6F-02A1952683C0}"/>
              </a:ext>
            </a:extLst>
          </p:cNvPr>
          <p:cNvCxnSpPr>
            <a:cxnSpLocks/>
          </p:cNvCxnSpPr>
          <p:nvPr/>
        </p:nvCxnSpPr>
        <p:spPr>
          <a:xfrm>
            <a:off x="0" y="6482080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A01B9A00-E990-82B7-2ED4-1225741CC472}"/>
              </a:ext>
            </a:extLst>
          </p:cNvPr>
          <p:cNvCxnSpPr>
            <a:cxnSpLocks/>
          </p:cNvCxnSpPr>
          <p:nvPr/>
        </p:nvCxnSpPr>
        <p:spPr>
          <a:xfrm>
            <a:off x="8592000" y="6482080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07737248-44DA-D844-69A3-752069273D3B}"/>
              </a:ext>
            </a:extLst>
          </p:cNvPr>
          <p:cNvCxnSpPr>
            <a:cxnSpLocks/>
          </p:cNvCxnSpPr>
          <p:nvPr/>
        </p:nvCxnSpPr>
        <p:spPr>
          <a:xfrm>
            <a:off x="0" y="375919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B1217B3B-BB68-80B2-A5DC-1D3A357C5A03}"/>
              </a:ext>
            </a:extLst>
          </p:cNvPr>
          <p:cNvCxnSpPr>
            <a:cxnSpLocks/>
          </p:cNvCxnSpPr>
          <p:nvPr/>
        </p:nvCxnSpPr>
        <p:spPr>
          <a:xfrm>
            <a:off x="8592000" y="375919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0F1CACDF-6D88-8969-C6B3-41F16C4E29B8}"/>
              </a:ext>
            </a:extLst>
          </p:cNvPr>
          <p:cNvSpPr txBox="1"/>
          <p:nvPr/>
        </p:nvSpPr>
        <p:spPr>
          <a:xfrm>
            <a:off x="281549" y="6488668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14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9A2E0356-7F11-FE1E-47A4-C8C46BE73943}"/>
              </a:ext>
            </a:extLst>
          </p:cNvPr>
          <p:cNvSpPr txBox="1"/>
          <p:nvPr/>
        </p:nvSpPr>
        <p:spPr>
          <a:xfrm>
            <a:off x="8310452" y="6488668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Andrea Spinelli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4D1A99D5-3FB1-044A-DCED-8D763B161DC9}"/>
              </a:ext>
            </a:extLst>
          </p:cNvPr>
          <p:cNvSpPr txBox="1"/>
          <p:nvPr/>
        </p:nvSpPr>
        <p:spPr>
          <a:xfrm>
            <a:off x="7894320" y="-6587"/>
            <a:ext cx="4016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Implementazione dei metodi numerici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24E4217B-A602-7EE0-58F9-E3DF01BAA438}"/>
              </a:ext>
            </a:extLst>
          </p:cNvPr>
          <p:cNvSpPr txBox="1"/>
          <p:nvPr/>
        </p:nvSpPr>
        <p:spPr>
          <a:xfrm>
            <a:off x="281549" y="-6587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Metodologia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09CE9784-2077-D634-D7CB-7AFC2EE89568}"/>
              </a:ext>
            </a:extLst>
          </p:cNvPr>
          <p:cNvSpPr txBox="1"/>
          <p:nvPr/>
        </p:nvSpPr>
        <p:spPr>
          <a:xfrm>
            <a:off x="833119" y="738663"/>
            <a:ext cx="10645649" cy="2046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Per garantire un confronto rigoroso e riproducibile, tutti i solutori numerici classici sono stati implementati come funzioni dedicate.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Questo approccio assicura il pieno controllo su ogni aspetto dell’algoritmo, dalla gestione del passo di integrazione alla risoluzione delle non linearità. 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L’elemento fondamentale è l’utilizzo della </a:t>
            </a:r>
            <a:r>
              <a:rPr lang="it-IT" sz="1600" b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function</a:t>
            </a:r>
            <a:r>
              <a:rPr lang="it-IT" sz="16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handle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permettendo di passare questa definizione in modo flessibile a ciascun solutore, assicurando che tutti operino sullo stesso identico problema matematico.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La struttura dei risolutori è la seguente: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CEF6BE6E-3515-6D68-9931-0DA6BF9F66B7}"/>
              </a:ext>
            </a:extLst>
          </p:cNvPr>
          <p:cNvSpPr txBox="1"/>
          <p:nvPr/>
        </p:nvSpPr>
        <p:spPr>
          <a:xfrm>
            <a:off x="1202663" y="2910204"/>
            <a:ext cx="10119359" cy="2600712"/>
          </a:xfrm>
          <a:prstGeom prst="rect">
            <a:avLst/>
          </a:prstGeom>
          <a:solidFill>
            <a:schemeClr val="bg1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it-IT" sz="1600" b="1" dirty="0" err="1">
                <a:solidFill>
                  <a:srgbClr val="92D050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function</a:t>
            </a:r>
            <a:r>
              <a:rPr lang="it-IT" sz="1600" dirty="0">
                <a:solidFill>
                  <a:srgbClr val="0070C0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 </a:t>
            </a:r>
            <a:r>
              <a:rPr lang="it-IT" sz="1600" dirty="0">
                <a:solidFill>
                  <a:schemeClr val="tx2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Y</a:t>
            </a:r>
            <a:r>
              <a:rPr lang="it-IT" sz="1600" dirty="0">
                <a:solidFill>
                  <a:schemeClr val="tx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 = </a:t>
            </a:r>
            <a:r>
              <a:rPr lang="it-IT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&lt;</a:t>
            </a:r>
            <a:r>
              <a:rPr lang="it-IT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nome_metodo_numerico</a:t>
            </a:r>
            <a:r>
              <a:rPr lang="it-IT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&gt;(</a:t>
            </a:r>
            <a:r>
              <a:rPr lang="it-IT" sz="1600" dirty="0">
                <a:solidFill>
                  <a:schemeClr val="tx2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f</a:t>
            </a:r>
            <a:r>
              <a:rPr lang="it-IT" sz="1600" dirty="0">
                <a:solidFill>
                  <a:schemeClr val="tx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, </a:t>
            </a:r>
            <a:r>
              <a:rPr lang="it-IT" sz="1600" dirty="0">
                <a:solidFill>
                  <a:schemeClr val="tx2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t</a:t>
            </a:r>
            <a:r>
              <a:rPr lang="it-IT" sz="1600" dirty="0">
                <a:solidFill>
                  <a:schemeClr val="tx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, </a:t>
            </a:r>
            <a:r>
              <a:rPr lang="it-IT" sz="1600" dirty="0">
                <a:solidFill>
                  <a:schemeClr val="tx2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y0</a:t>
            </a:r>
            <a:r>
              <a:rPr lang="it-IT" sz="1600" dirty="0">
                <a:solidFill>
                  <a:schemeClr val="tx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 &lt;</a:t>
            </a:r>
            <a:r>
              <a:rPr lang="it-IT" sz="1600" dirty="0" err="1">
                <a:solidFill>
                  <a:schemeClr val="tx2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toll</a:t>
            </a:r>
            <a:r>
              <a:rPr lang="it-IT" sz="1600" dirty="0">
                <a:solidFill>
                  <a:schemeClr val="tx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, </a:t>
            </a:r>
            <a:r>
              <a:rPr lang="it-IT" sz="1600" dirty="0" err="1">
                <a:solidFill>
                  <a:schemeClr val="tx2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maxit</a:t>
            </a:r>
            <a:r>
              <a:rPr lang="it-IT" sz="1600" dirty="0">
                <a:solidFill>
                  <a:schemeClr val="tx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&gt;)</a:t>
            </a:r>
          </a:p>
          <a:p>
            <a:pPr algn="just">
              <a:spcAft>
                <a:spcPts val="600"/>
              </a:spcAft>
            </a:pPr>
            <a:endParaRPr lang="it-IT" sz="1600" dirty="0">
              <a:solidFill>
                <a:schemeClr val="accent6"/>
              </a:solidFill>
              <a:latin typeface="Consolas" panose="020B0609020204030204" pitchFamily="49" charset="0"/>
              <a:ea typeface="Cambria" panose="02040503050406030204" pitchFamily="18" charset="0"/>
            </a:endParaRPr>
          </a:p>
          <a:p>
            <a:pPr algn="just">
              <a:spcAft>
                <a:spcPts val="600"/>
              </a:spcAft>
            </a:pPr>
            <a:r>
              <a:rPr lang="it-IT" sz="1600" dirty="0">
                <a:solidFill>
                  <a:schemeClr val="accent6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	# Condizioni iniziali</a:t>
            </a:r>
          </a:p>
          <a:p>
            <a:pPr algn="just">
              <a:spcAft>
                <a:spcPts val="600"/>
              </a:spcAft>
            </a:pPr>
            <a:endParaRPr lang="it-IT" sz="1600" dirty="0">
              <a:solidFill>
                <a:schemeClr val="accent6"/>
              </a:solidFill>
              <a:latin typeface="Consolas" panose="020B0609020204030204" pitchFamily="49" charset="0"/>
              <a:ea typeface="Cambria" panose="02040503050406030204" pitchFamily="18" charset="0"/>
            </a:endParaRPr>
          </a:p>
          <a:p>
            <a:pPr algn="just">
              <a:spcAft>
                <a:spcPts val="600"/>
              </a:spcAft>
            </a:pPr>
            <a:r>
              <a:rPr lang="it-IT" sz="1600" dirty="0">
                <a:solidFill>
                  <a:schemeClr val="accent6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	# Dichiarazione delle variabili</a:t>
            </a:r>
          </a:p>
          <a:p>
            <a:pPr algn="just">
              <a:spcAft>
                <a:spcPts val="600"/>
              </a:spcAft>
            </a:pPr>
            <a:endParaRPr lang="it-IT" sz="1600" dirty="0">
              <a:solidFill>
                <a:schemeClr val="accent6"/>
              </a:solidFill>
              <a:latin typeface="Consolas" panose="020B0609020204030204" pitchFamily="49" charset="0"/>
              <a:ea typeface="Cambria" panose="02040503050406030204" pitchFamily="18" charset="0"/>
            </a:endParaRPr>
          </a:p>
          <a:p>
            <a:pPr algn="just">
              <a:spcAft>
                <a:spcPts val="600"/>
              </a:spcAft>
            </a:pPr>
            <a:r>
              <a:rPr lang="it-IT" sz="1600" dirty="0">
                <a:solidFill>
                  <a:schemeClr val="accent6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	# Metodo numerico, iterativo </a:t>
            </a:r>
          </a:p>
          <a:p>
            <a:pPr algn="just">
              <a:spcAft>
                <a:spcPts val="600"/>
              </a:spcAft>
            </a:pPr>
            <a:r>
              <a:rPr lang="it-IT" sz="1600" b="1" dirty="0">
                <a:solidFill>
                  <a:srgbClr val="92D050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40589581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0C2B6-4BA3-D3B5-2B02-EC12A4011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9">
            <a:extLst>
              <a:ext uri="{FF2B5EF4-FFF2-40B4-BE49-F238E27FC236}">
                <a16:creationId xmlns:a16="http://schemas.microsoft.com/office/drawing/2014/main" id="{7D0E8D31-10CA-0F0C-AEF5-A435E29EA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" name="Rectangle 11">
            <a:extLst>
              <a:ext uri="{FF2B5EF4-FFF2-40B4-BE49-F238E27FC236}">
                <a16:creationId xmlns:a16="http://schemas.microsoft.com/office/drawing/2014/main" id="{BA56D71D-688A-8E0C-3E67-BFA140B059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" name="Rectangle 13">
            <a:extLst>
              <a:ext uri="{FF2B5EF4-FFF2-40B4-BE49-F238E27FC236}">
                <a16:creationId xmlns:a16="http://schemas.microsoft.com/office/drawing/2014/main" id="{4DF6660C-5B4F-2C1F-B92D-E4EBF09202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890B04E5-4546-BB4E-5C85-132CD7F5D75D}"/>
              </a:ext>
            </a:extLst>
          </p:cNvPr>
          <p:cNvCxnSpPr>
            <a:cxnSpLocks/>
          </p:cNvCxnSpPr>
          <p:nvPr/>
        </p:nvCxnSpPr>
        <p:spPr>
          <a:xfrm>
            <a:off x="0" y="6482080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30B7EEB8-C020-F697-BBF5-6B4C6E90A90D}"/>
              </a:ext>
            </a:extLst>
          </p:cNvPr>
          <p:cNvCxnSpPr>
            <a:cxnSpLocks/>
          </p:cNvCxnSpPr>
          <p:nvPr/>
        </p:nvCxnSpPr>
        <p:spPr>
          <a:xfrm>
            <a:off x="8592000" y="6482080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22FF59F0-7C09-30FE-A975-CBB1A3392F25}"/>
              </a:ext>
            </a:extLst>
          </p:cNvPr>
          <p:cNvCxnSpPr>
            <a:cxnSpLocks/>
          </p:cNvCxnSpPr>
          <p:nvPr/>
        </p:nvCxnSpPr>
        <p:spPr>
          <a:xfrm>
            <a:off x="0" y="375919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FBA393AB-F69B-C11E-E5CC-41ACDCD05321}"/>
              </a:ext>
            </a:extLst>
          </p:cNvPr>
          <p:cNvCxnSpPr>
            <a:cxnSpLocks/>
          </p:cNvCxnSpPr>
          <p:nvPr/>
        </p:nvCxnSpPr>
        <p:spPr>
          <a:xfrm>
            <a:off x="8592000" y="375919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E0E06518-F366-A6C9-9329-46FD249AA55D}"/>
              </a:ext>
            </a:extLst>
          </p:cNvPr>
          <p:cNvSpPr txBox="1"/>
          <p:nvPr/>
        </p:nvSpPr>
        <p:spPr>
          <a:xfrm>
            <a:off x="281549" y="6488668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15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F2114964-DF8D-FF46-7BC6-25A0FEA1739B}"/>
              </a:ext>
            </a:extLst>
          </p:cNvPr>
          <p:cNvSpPr txBox="1"/>
          <p:nvPr/>
        </p:nvSpPr>
        <p:spPr>
          <a:xfrm>
            <a:off x="8310452" y="6488668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Andrea Spinelli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EF9A05C8-BEB3-7E9D-DA0F-A890D44E1E0D}"/>
              </a:ext>
            </a:extLst>
          </p:cNvPr>
          <p:cNvSpPr txBox="1"/>
          <p:nvPr/>
        </p:nvSpPr>
        <p:spPr>
          <a:xfrm>
            <a:off x="7894320" y="-6587"/>
            <a:ext cx="4016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Implementazione della PINN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6927F62C-9091-3210-6BA0-8DFD74FC67C0}"/>
              </a:ext>
            </a:extLst>
          </p:cNvPr>
          <p:cNvSpPr txBox="1"/>
          <p:nvPr/>
        </p:nvSpPr>
        <p:spPr>
          <a:xfrm>
            <a:off x="281549" y="-6587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Metodologia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sellaDiTesto 17">
                <a:extLst>
                  <a:ext uri="{FF2B5EF4-FFF2-40B4-BE49-F238E27FC236}">
                    <a16:creationId xmlns:a16="http://schemas.microsoft.com/office/drawing/2014/main" id="{6F8ABBB7-49C5-73E6-B19A-1464C92FD905}"/>
                  </a:ext>
                </a:extLst>
              </p:cNvPr>
              <p:cNvSpPr txBox="1"/>
              <p:nvPr/>
            </p:nvSpPr>
            <p:spPr>
              <a:xfrm>
                <a:off x="833119" y="738663"/>
                <a:ext cx="10645649" cy="55440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 algn="just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it-IT" sz="1600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Il cuore della PINN è una rete neurale di tipo </a:t>
                </a:r>
                <a:r>
                  <a:rPr lang="it-IT" sz="16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feed-</a:t>
                </a:r>
                <a:r>
                  <a:rPr lang="it-IT" sz="1600" b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forward</a:t>
                </a:r>
                <a:r>
                  <a:rPr lang="it-IT" sz="1600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o </a:t>
                </a:r>
                <a:r>
                  <a:rPr lang="it-IT" sz="16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Multi-Layer</a:t>
                </a:r>
                <a:r>
                  <a:rPr lang="it-IT" sz="1600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it-IT" sz="1600" b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Perceptron</a:t>
                </a:r>
                <a:r>
                  <a:rPr lang="it-IT" sz="1600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(</a:t>
                </a:r>
                <a:r>
                  <a:rPr lang="it-IT" sz="16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MLP</a:t>
                </a:r>
                <a:r>
                  <a:rPr lang="it-IT" sz="1600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), che funge da </a:t>
                </a:r>
                <a:r>
                  <a:rPr lang="it-IT" sz="1600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approssimatore</a:t>
                </a:r>
                <a:r>
                  <a:rPr lang="it-IT" sz="1600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universale per la soluzione del sistema di ODE. </a:t>
                </a:r>
              </a:p>
              <a:p>
                <a:pPr marL="285750" indent="-285750" algn="just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it-IT" sz="1600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La </a:t>
                </a:r>
                <a:r>
                  <a:rPr lang="it-IT" sz="16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rete</a:t>
                </a:r>
                <a:r>
                  <a:rPr lang="it-IT" sz="1600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è stata progettata per mappare la variabile temporale di input allo stato del sistema in output</a:t>
                </a:r>
              </a:p>
              <a:p>
                <a:pPr marL="742950" lvl="1" indent="-285750" algn="just">
                  <a:spcAft>
                    <a:spcPts val="600"/>
                  </a:spcAft>
                  <a:buFont typeface="Courier New" panose="02070309020205020404" pitchFamily="49" charset="0"/>
                  <a:buChar char="o"/>
                </a:pPr>
                <a:r>
                  <a:rPr lang="it-IT" sz="16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Input Layer</a:t>
                </a:r>
                <a:r>
                  <a:rPr lang="it-IT" sz="1600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: La rete accetta un singolo input scalare, corrispondente al tempo t.</a:t>
                </a:r>
              </a:p>
              <a:p>
                <a:pPr marL="742950" lvl="1" indent="-285750" algn="just">
                  <a:spcAft>
                    <a:spcPts val="600"/>
                  </a:spcAft>
                  <a:buFont typeface="Courier New" panose="02070309020205020404" pitchFamily="49" charset="0"/>
                  <a:buChar char="o"/>
                </a:pPr>
                <a:r>
                  <a:rPr lang="it-IT" sz="1600" b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Hidden</a:t>
                </a:r>
                <a:r>
                  <a:rPr lang="it-IT" sz="16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it-IT" sz="1600" b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Layers</a:t>
                </a:r>
                <a:r>
                  <a:rPr lang="it-IT" sz="1600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: L’architettura prevede </a:t>
                </a:r>
                <a:r>
                  <a:rPr lang="it-IT" sz="1600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N</a:t>
                </a:r>
                <a:r>
                  <a:rPr lang="it-IT" sz="1600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strati nascosti densamente connessi, ciascuno composto da </a:t>
                </a:r>
                <a:r>
                  <a:rPr lang="it-IT" sz="1600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K</a:t>
                </a:r>
                <a:r>
                  <a:rPr lang="it-IT" sz="1600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neuroni.</a:t>
                </a:r>
              </a:p>
              <a:p>
                <a:pPr marL="742950" lvl="1" indent="-285750" algn="just">
                  <a:spcAft>
                    <a:spcPts val="600"/>
                  </a:spcAft>
                  <a:buFont typeface="Courier New" panose="02070309020205020404" pitchFamily="49" charset="0"/>
                  <a:buChar char="o"/>
                </a:pPr>
                <a:r>
                  <a:rPr lang="it-IT" sz="16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Funzione di Attivazione</a:t>
                </a:r>
                <a:r>
                  <a:rPr lang="it-IT" sz="1600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: Tra ogni strato nascosto è stata interposta una funzione di attivazione non lineare. La scelta è ricaduta sull’</a:t>
                </a:r>
                <a:r>
                  <a:rPr lang="it-IT" sz="1600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arcotangente iperbolica</a:t>
                </a:r>
                <a:r>
                  <a:rPr lang="it-IT" sz="1600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(</a:t>
                </a:r>
                <a:r>
                  <a:rPr lang="it-IT" sz="1600" i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tanh</a:t>
                </a:r>
                <a:r>
                  <a:rPr lang="it-IT" sz="1600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). Questa funzione è C-infinita e il suo output è limitato nell’intervallo (−1, 1), proprietà che favoriscono la stabilità durante l’addestramento.</a:t>
                </a:r>
              </a:p>
              <a:p>
                <a:pPr marL="742950" lvl="1" indent="-285750" algn="just">
                  <a:spcAft>
                    <a:spcPts val="600"/>
                  </a:spcAft>
                  <a:buFont typeface="Courier New" panose="02070309020205020404" pitchFamily="49" charset="0"/>
                  <a:buChar char="o"/>
                </a:pPr>
                <a:r>
                  <a:rPr lang="it-IT" sz="16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Output Layer</a:t>
                </a:r>
                <a:r>
                  <a:rPr lang="it-IT" sz="1600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: Lo strato di output è un </a:t>
                </a:r>
                <a:r>
                  <a:rPr lang="it-IT" sz="1600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fullyConnectedLayer</a:t>
                </a:r>
                <a:r>
                  <a:rPr lang="it-IT" sz="1600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con un numero di neuroni pari alla dimensionalità del sistema di ODE.</a:t>
                </a:r>
              </a:p>
              <a:p>
                <a:pPr marL="742950" lvl="1" indent="-285750" algn="just">
                  <a:spcAft>
                    <a:spcPts val="600"/>
                  </a:spcAft>
                  <a:buFont typeface="Courier New" panose="02070309020205020404" pitchFamily="49" charset="0"/>
                  <a:buChar char="o"/>
                </a:pPr>
                <a:endParaRPr lang="it-IT" sz="1600" dirty="0">
                  <a:solidFill>
                    <a:srgbClr val="0070C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285750" indent="-285750" algn="just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it-IT" sz="1600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La </a:t>
                </a:r>
                <a:r>
                  <a:rPr lang="it-IT" sz="16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funzione di costo </a:t>
                </a:r>
                <a:r>
                  <a:rPr lang="it-IT" sz="1600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è la somma pesata di due componenti: l’errore sui dati e il residuo dell’equazione differenziale</a:t>
                </a:r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it-IT" sz="16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6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it-IT" sz="1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it-IT" sz="16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6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it-IT" sz="16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𝑑𝑎𝑡𝑎</m:t>
                          </m:r>
                        </m:sub>
                      </m:sSub>
                      <m:d>
                        <m:dPr>
                          <m:ctrlPr>
                            <a:rPr lang="it-IT" sz="16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6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it-IT" sz="1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+</m:t>
                      </m:r>
                      <m:r>
                        <a:rPr lang="it-IT" sz="1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it-IT" sz="16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6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it-IT" sz="16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𝑝h𝑦𝑠𝑖𝑐𝑠</m:t>
                          </m:r>
                        </m:sub>
                      </m:sSub>
                      <m:d>
                        <m:dPr>
                          <m:ctrlPr>
                            <a:rPr lang="it-IT" sz="16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6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it-IT" sz="1600" dirty="0">
                  <a:solidFill>
                    <a:srgbClr val="0070C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>
                  <a:spcAft>
                    <a:spcPts val="600"/>
                  </a:spcAft>
                </a:pPr>
                <a:endParaRPr lang="it-IT" sz="1600" dirty="0">
                  <a:solidFill>
                    <a:srgbClr val="0070C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285750" indent="-285750" algn="just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it-IT" sz="1600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Il </a:t>
                </a:r>
                <a:r>
                  <a:rPr lang="it-IT" sz="16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processo di addestramento </a:t>
                </a:r>
                <a:r>
                  <a:rPr lang="it-IT" sz="1600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minimizza la funzione di costo </a:t>
                </a:r>
                <a14:m>
                  <m:oMath xmlns:m="http://schemas.openxmlformats.org/officeDocument/2006/math">
                    <m:r>
                      <a:rPr lang="it-IT" sz="16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𝐿</m:t>
                    </m:r>
                    <m:r>
                      <a:rPr lang="it-IT" sz="16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(</m:t>
                    </m:r>
                    <m:r>
                      <a:rPr lang="it-IT" sz="16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𝜃</m:t>
                    </m:r>
                    <m:r>
                      <a:rPr lang="it-IT" sz="16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) </m:t>
                    </m:r>
                  </m:oMath>
                </a14:m>
                <a:r>
                  <a:rPr lang="it-IT" sz="1600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per trovare i parametri ottimali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sz="16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pPr>
                      <m:e>
                        <m:r>
                          <a:rPr lang="it-IT" sz="160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it-IT" sz="160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it-IT" sz="16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 </m:t>
                    </m:r>
                  </m:oMath>
                </a14:m>
                <a:r>
                  <a:rPr lang="it-IT" sz="1600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della rete.</a:t>
                </a:r>
              </a:p>
              <a:p>
                <a:pPr marL="742950" lvl="1" indent="-285750" algn="just">
                  <a:spcAft>
                    <a:spcPts val="600"/>
                  </a:spcAft>
                  <a:buFont typeface="Courier New" panose="02070309020205020404" pitchFamily="49" charset="0"/>
                  <a:buChar char="o"/>
                </a:pPr>
                <a:r>
                  <a:rPr lang="it-IT" sz="16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Ottimizzatore</a:t>
                </a:r>
                <a:r>
                  <a:rPr lang="it-IT" sz="1600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: </a:t>
                </a:r>
                <a:r>
                  <a:rPr lang="fr-FR" sz="1600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Adam</a:t>
                </a:r>
                <a:r>
                  <a:rPr lang="fr-FR" sz="1600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(</a:t>
                </a:r>
                <a:r>
                  <a:rPr lang="fr-FR" sz="1600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Adaptive Moment Estimation</a:t>
                </a:r>
                <a:r>
                  <a:rPr lang="fr-FR" sz="1600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) e </a:t>
                </a:r>
                <a:r>
                  <a:rPr lang="it-IT" sz="1600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SGD</a:t>
                </a:r>
                <a:r>
                  <a:rPr lang="it-IT" sz="1600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sta (</a:t>
                </a:r>
                <a:r>
                  <a:rPr lang="it-IT" sz="1600" i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Stochastic</a:t>
                </a:r>
                <a:r>
                  <a:rPr lang="it-IT" sz="1600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it-IT" sz="1600" i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Gradient</a:t>
                </a:r>
                <a:r>
                  <a:rPr lang="it-IT" sz="1600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it-IT" sz="1600" i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Descent</a:t>
                </a:r>
                <a:r>
                  <a:rPr lang="it-IT" sz="1600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).</a:t>
                </a:r>
              </a:p>
              <a:p>
                <a:pPr marL="742950" lvl="1" indent="-285750" algn="just">
                  <a:spcAft>
                    <a:spcPts val="600"/>
                  </a:spcAft>
                  <a:buFont typeface="Courier New" panose="02070309020205020404" pitchFamily="49" charset="0"/>
                  <a:buChar char="o"/>
                </a:pPr>
                <a:r>
                  <a:rPr lang="it-IT" sz="16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Learning Rate</a:t>
                </a:r>
                <a:r>
                  <a:rPr lang="it-IT" sz="1600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it-IT" sz="16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𝜂</m:t>
                    </m:r>
                    <m:r>
                      <a:rPr lang="it-IT" sz="16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=1×</m:t>
                    </m:r>
                    <m:sSup>
                      <m:sSupPr>
                        <m:ctrlPr>
                          <a:rPr lang="it-IT" sz="160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pPr>
                      <m:e>
                        <m:r>
                          <a:rPr lang="it-IT" sz="160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it-IT" sz="160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−3</m:t>
                        </m:r>
                      </m:sup>
                    </m:sSup>
                  </m:oMath>
                </a14:m>
                <a:r>
                  <a:rPr lang="it-IT" sz="1600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, soggetto a possibile </a:t>
                </a:r>
                <a:r>
                  <a:rPr lang="it-IT" sz="1600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decadimento</a:t>
                </a:r>
                <a:r>
                  <a:rPr lang="it-IT" sz="1600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(</a:t>
                </a:r>
                <a:r>
                  <a:rPr lang="it-IT" sz="1600" i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decay</a:t>
                </a:r>
                <a:r>
                  <a:rPr lang="it-IT" sz="1600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) per affinare la convergenza.</a:t>
                </a:r>
              </a:p>
              <a:p>
                <a:pPr marL="742950" lvl="1" indent="-285750" algn="just">
                  <a:spcAft>
                    <a:spcPts val="600"/>
                  </a:spcAft>
                  <a:buFont typeface="Courier New" panose="02070309020205020404" pitchFamily="49" charset="0"/>
                  <a:buChar char="o"/>
                </a:pPr>
                <a:r>
                  <a:rPr lang="it-IT" sz="16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Ciclo di Addestramento</a:t>
                </a:r>
                <a:r>
                  <a:rPr lang="it-IT" sz="1600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: implementato come un ciclo for che itera per un numero predefinito di epoche. </a:t>
                </a:r>
              </a:p>
            </p:txBody>
          </p:sp>
        </mc:Choice>
        <mc:Fallback xmlns="">
          <p:sp>
            <p:nvSpPr>
              <p:cNvPr id="18" name="CasellaDiTesto 17">
                <a:extLst>
                  <a:ext uri="{FF2B5EF4-FFF2-40B4-BE49-F238E27FC236}">
                    <a16:creationId xmlns:a16="http://schemas.microsoft.com/office/drawing/2014/main" id="{6F8ABBB7-49C5-73E6-B19A-1464C92FD9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119" y="738663"/>
                <a:ext cx="10645649" cy="5544018"/>
              </a:xfrm>
              <a:prstGeom prst="rect">
                <a:avLst/>
              </a:prstGeom>
              <a:blipFill>
                <a:blip r:embed="rId2"/>
                <a:stretch>
                  <a:fillRect l="-229" t="-440" r="-745" b="-54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72218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37DB7-72F5-637E-BE13-458D21C32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9">
            <a:extLst>
              <a:ext uri="{FF2B5EF4-FFF2-40B4-BE49-F238E27FC236}">
                <a16:creationId xmlns:a16="http://schemas.microsoft.com/office/drawing/2014/main" id="{E9537DA9-BAA4-DA1B-30B7-19F448F8F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" name="Rectangle 11">
            <a:extLst>
              <a:ext uri="{FF2B5EF4-FFF2-40B4-BE49-F238E27FC236}">
                <a16:creationId xmlns:a16="http://schemas.microsoft.com/office/drawing/2014/main" id="{7451C306-D6B9-BC94-7E32-97504A46FB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" name="Rectangle 13">
            <a:extLst>
              <a:ext uri="{FF2B5EF4-FFF2-40B4-BE49-F238E27FC236}">
                <a16:creationId xmlns:a16="http://schemas.microsoft.com/office/drawing/2014/main" id="{431D8ECF-3874-A975-3CBD-96D01211D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20210394-11A9-C445-EB64-5BD9A5F84781}"/>
              </a:ext>
            </a:extLst>
          </p:cNvPr>
          <p:cNvCxnSpPr>
            <a:cxnSpLocks/>
          </p:cNvCxnSpPr>
          <p:nvPr/>
        </p:nvCxnSpPr>
        <p:spPr>
          <a:xfrm>
            <a:off x="0" y="6482080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F69C03C0-C635-4530-FA17-4D0978731A11}"/>
              </a:ext>
            </a:extLst>
          </p:cNvPr>
          <p:cNvCxnSpPr>
            <a:cxnSpLocks/>
          </p:cNvCxnSpPr>
          <p:nvPr/>
        </p:nvCxnSpPr>
        <p:spPr>
          <a:xfrm>
            <a:off x="8592000" y="6482080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A86CE7F0-14CA-B483-9720-FD8E510F3A28}"/>
              </a:ext>
            </a:extLst>
          </p:cNvPr>
          <p:cNvCxnSpPr>
            <a:cxnSpLocks/>
          </p:cNvCxnSpPr>
          <p:nvPr/>
        </p:nvCxnSpPr>
        <p:spPr>
          <a:xfrm>
            <a:off x="0" y="375919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7EF52E5B-0C0D-4FD7-299A-DE617F2BB4FE}"/>
              </a:ext>
            </a:extLst>
          </p:cNvPr>
          <p:cNvCxnSpPr>
            <a:cxnSpLocks/>
          </p:cNvCxnSpPr>
          <p:nvPr/>
        </p:nvCxnSpPr>
        <p:spPr>
          <a:xfrm>
            <a:off x="8592000" y="375919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831189C2-A428-9D95-3C7D-C157AA72BC6F}"/>
              </a:ext>
            </a:extLst>
          </p:cNvPr>
          <p:cNvSpPr txBox="1"/>
          <p:nvPr/>
        </p:nvSpPr>
        <p:spPr>
          <a:xfrm>
            <a:off x="281549" y="6488668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16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735F405C-6C5D-1E4A-D095-F610D9A62761}"/>
              </a:ext>
            </a:extLst>
          </p:cNvPr>
          <p:cNvSpPr txBox="1"/>
          <p:nvPr/>
        </p:nvSpPr>
        <p:spPr>
          <a:xfrm>
            <a:off x="8310452" y="6488668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Andrea Spinelli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18535FCA-132F-89AE-1F99-791D86C9FF95}"/>
              </a:ext>
            </a:extLst>
          </p:cNvPr>
          <p:cNvSpPr txBox="1"/>
          <p:nvPr/>
        </p:nvSpPr>
        <p:spPr>
          <a:xfrm>
            <a:off x="7894320" y="-6587"/>
            <a:ext cx="4016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Metriche di valutazione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C19BF139-57A8-3D1B-EC8E-9390F4741509}"/>
              </a:ext>
            </a:extLst>
          </p:cNvPr>
          <p:cNvSpPr txBox="1"/>
          <p:nvPr/>
        </p:nvSpPr>
        <p:spPr>
          <a:xfrm>
            <a:off x="281549" y="-6587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Metodologia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sellaDiTesto 17">
                <a:extLst>
                  <a:ext uri="{FF2B5EF4-FFF2-40B4-BE49-F238E27FC236}">
                    <a16:creationId xmlns:a16="http://schemas.microsoft.com/office/drawing/2014/main" id="{CE41D63A-3C86-BC84-D95E-C5C347231738}"/>
                  </a:ext>
                </a:extLst>
              </p:cNvPr>
              <p:cNvSpPr txBox="1"/>
              <p:nvPr/>
            </p:nvSpPr>
            <p:spPr>
              <a:xfrm>
                <a:off x="833119" y="738663"/>
                <a:ext cx="10645649" cy="9079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 algn="just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it-IT" sz="1600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Ogni soluzione numerica generata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it-IT" sz="16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accPr>
                      <m:e>
                        <m:r>
                          <a:rPr lang="it-IT" sz="16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it-IT" sz="16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(</m:t>
                    </m:r>
                    <m:r>
                      <a:rPr lang="it-IT" sz="16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𝑡</m:t>
                    </m:r>
                    <m:r>
                      <a:rPr lang="it-IT" sz="16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)</m:t>
                    </m:r>
                  </m:oMath>
                </a14:m>
                <a:r>
                  <a:rPr lang="it-IT" sz="1600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è stata confrontata con la soluzione di riferimento </a:t>
                </a:r>
                <a14:m>
                  <m:oMath xmlns:m="http://schemas.openxmlformats.org/officeDocument/2006/math">
                    <m:r>
                      <a:rPr lang="it-IT" sz="16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𝑦</m:t>
                    </m:r>
                    <m:r>
                      <a:rPr lang="it-IT" sz="16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(</m:t>
                    </m:r>
                    <m:r>
                      <a:rPr lang="it-IT" sz="16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𝑡</m:t>
                    </m:r>
                    <m:r>
                      <a:rPr lang="it-IT" sz="16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)</m:t>
                    </m:r>
                  </m:oMath>
                </a14:m>
                <a:r>
                  <a:rPr lang="it-IT" sz="1600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(ottenuta dai dataset </a:t>
                </a:r>
                <a:r>
                  <a:rPr lang="it-IT" sz="1600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pre</a:t>
                </a:r>
                <a:r>
                  <a:rPr lang="it-IT" sz="1600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-elaborati) su un insieme discreto di </a:t>
                </a:r>
                <a:r>
                  <a:rPr lang="it-IT" sz="1600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N</a:t>
                </a:r>
                <a:r>
                  <a:rPr lang="it-IT" sz="1600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punti temporali. </a:t>
                </a:r>
              </a:p>
              <a:p>
                <a:pPr marL="285750" indent="-285750" algn="just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it-IT" sz="1600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Le seguenti metriche sono state adottate per quantificare l’errore:</a:t>
                </a:r>
              </a:p>
            </p:txBody>
          </p:sp>
        </mc:Choice>
        <mc:Fallback xmlns="">
          <p:sp>
            <p:nvSpPr>
              <p:cNvPr id="18" name="CasellaDiTesto 17">
                <a:extLst>
                  <a:ext uri="{FF2B5EF4-FFF2-40B4-BE49-F238E27FC236}">
                    <a16:creationId xmlns:a16="http://schemas.microsoft.com/office/drawing/2014/main" id="{CE41D63A-3C86-BC84-D95E-C5C3472317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119" y="738663"/>
                <a:ext cx="10645649" cy="907941"/>
              </a:xfrm>
              <a:prstGeom prst="rect">
                <a:avLst/>
              </a:prstGeom>
              <a:blipFill>
                <a:blip r:embed="rId2"/>
                <a:stretch>
                  <a:fillRect l="-229" t="-2685" r="-745" b="-738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6061720E-0EED-A2AD-504D-5A7EAD58D91A}"/>
                  </a:ext>
                </a:extLst>
              </p:cNvPr>
              <p:cNvSpPr txBox="1"/>
              <p:nvPr/>
            </p:nvSpPr>
            <p:spPr>
              <a:xfrm>
                <a:off x="1776001" y="1851311"/>
                <a:ext cx="4320000" cy="12770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t-IT" sz="16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Mean </a:t>
                </a:r>
                <a:r>
                  <a:rPr lang="it-IT" sz="1600" b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Squared</a:t>
                </a:r>
                <a:r>
                  <a:rPr lang="it-IT" sz="16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it-IT" sz="1600" b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Error</a:t>
                </a:r>
                <a:r>
                  <a:rPr lang="it-IT" sz="16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 - MSE</a:t>
                </a:r>
              </a:p>
              <a:p>
                <a:pPr algn="ctr"/>
                <a:endParaRPr lang="it-IT" sz="1600" b="1" dirty="0">
                  <a:solidFill>
                    <a:srgbClr val="0070C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it-IT" sz="16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𝑀𝑆𝐸</m:t>
                      </m:r>
                      <m:r>
                        <a:rPr lang="it-IT" sz="16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sz="16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sz="16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it-IT" sz="16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it-IT" sz="16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naryPr>
                        <m:sub>
                          <m:r>
                            <a:rPr lang="it-IT" sz="16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𝑖</m:t>
                          </m:r>
                          <m:r>
                            <a:rPr lang="it-IT" sz="16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=</m:t>
                          </m:r>
                          <m:r>
                            <a:rPr lang="it-IT" sz="16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it-IT" sz="16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it-IT" sz="1600" b="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it-IT" sz="1600" b="0" i="1" dirty="0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it-IT" sz="1600" b="0" i="1" dirty="0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  <a:ea typeface="Cambria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sz="1600" b="0" i="1" dirty="0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  <a:ea typeface="Cambria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it-IT" sz="1600" b="0" i="1" dirty="0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  <a:ea typeface="Cambria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it-IT" sz="1600" b="0" i="1" dirty="0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it-IT" sz="1600" b="0" i="1" dirty="0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  <a:ea typeface="Cambria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it-IT" sz="1600" b="0" i="1" dirty="0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  <a:ea typeface="Cambria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it-IT" sz="1600" b="0" i="1" dirty="0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  <a:ea typeface="Cambria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it-IT" sz="1600" b="0" i="1" dirty="0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  <a:ea typeface="Cambria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it-IT" sz="1600" b="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it-IT" sz="1600" dirty="0">
                  <a:solidFill>
                    <a:srgbClr val="0070C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6061720E-0EED-A2AD-504D-5A7EAD58D9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6001" y="1851311"/>
                <a:ext cx="4320000" cy="1277081"/>
              </a:xfrm>
              <a:prstGeom prst="rect">
                <a:avLst/>
              </a:prstGeom>
              <a:blipFill>
                <a:blip r:embed="rId3"/>
                <a:stretch>
                  <a:fillRect t="-191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A5FCE78E-C290-9E92-0393-A9B16CD013B9}"/>
                  </a:ext>
                </a:extLst>
              </p:cNvPr>
              <p:cNvSpPr txBox="1"/>
              <p:nvPr/>
            </p:nvSpPr>
            <p:spPr>
              <a:xfrm>
                <a:off x="1776001" y="3379854"/>
                <a:ext cx="4320000" cy="12770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t-IT" sz="16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Mean Absolute </a:t>
                </a:r>
                <a:r>
                  <a:rPr lang="it-IT" sz="1600" b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Error</a:t>
                </a:r>
                <a:r>
                  <a:rPr lang="it-IT" sz="16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 - MAE</a:t>
                </a:r>
              </a:p>
              <a:p>
                <a:pPr algn="ctr"/>
                <a:endParaRPr lang="it-IT" sz="1600" i="1" dirty="0">
                  <a:solidFill>
                    <a:srgbClr val="0070C0"/>
                  </a:solidFill>
                  <a:latin typeface="Cambria Math" panose="02040503050406030204" pitchFamily="18" charset="0"/>
                  <a:ea typeface="Cambria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6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𝑀</m:t>
                      </m:r>
                      <m:r>
                        <a:rPr lang="it-IT" sz="16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𝐴</m:t>
                      </m:r>
                      <m:r>
                        <a:rPr lang="it-IT" sz="16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𝐸</m:t>
                      </m:r>
                      <m:r>
                        <a:rPr lang="it-IT" sz="16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sz="16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sz="16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it-IT" sz="16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it-IT" sz="16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naryPr>
                        <m:sub>
                          <m:r>
                            <a:rPr lang="it-IT" sz="16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𝑖</m:t>
                          </m:r>
                          <m:r>
                            <a:rPr lang="it-IT" sz="16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=</m:t>
                          </m:r>
                          <m:r>
                            <a:rPr lang="it-IT" sz="16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it-IT" sz="16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𝑁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it-IT" sz="1600" b="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it-IT" sz="1600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1600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it-IT" sz="1600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it-IT" sz="16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it-IT" sz="1600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it-IT" sz="1600" i="1" dirty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  <a:ea typeface="Cambria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it-IT" sz="1600" i="1" dirty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  <a:ea typeface="Cambria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it-IT" sz="1600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it-IT" sz="800" dirty="0">
                  <a:solidFill>
                    <a:srgbClr val="0070C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A5FCE78E-C290-9E92-0393-A9B16CD013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6001" y="3379854"/>
                <a:ext cx="4320000" cy="1277081"/>
              </a:xfrm>
              <a:prstGeom prst="rect">
                <a:avLst/>
              </a:prstGeom>
              <a:blipFill>
                <a:blip r:embed="rId4"/>
                <a:stretch>
                  <a:fillRect t="-190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D5C66872-B395-24B8-DC46-0F5DCD2A8102}"/>
                  </a:ext>
                </a:extLst>
              </p:cNvPr>
              <p:cNvSpPr txBox="1"/>
              <p:nvPr/>
            </p:nvSpPr>
            <p:spPr>
              <a:xfrm>
                <a:off x="6096000" y="1851311"/>
                <a:ext cx="4320000" cy="11520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t-IT" sz="16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Normalized Mean </a:t>
                </a:r>
                <a:r>
                  <a:rPr lang="it-IT" sz="1600" b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Squared</a:t>
                </a:r>
                <a:r>
                  <a:rPr lang="it-IT" sz="16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it-IT" sz="1600" b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Error</a:t>
                </a:r>
                <a:r>
                  <a:rPr lang="it-IT" sz="16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 - NMSE</a:t>
                </a:r>
              </a:p>
              <a:p>
                <a:pPr algn="ctr"/>
                <a:br>
                  <a:rPr lang="it-IT" sz="16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6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𝑁𝑀</m:t>
                      </m:r>
                      <m:r>
                        <a:rPr lang="it-IT" sz="16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𝑆𝐸</m:t>
                      </m:r>
                      <m:r>
                        <a:rPr lang="it-IT" sz="16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sz="16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it-IT" sz="16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it-IT" sz="16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𝑖</m:t>
                              </m:r>
                              <m:r>
                                <a:rPr lang="it-IT" sz="16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=</m:t>
                              </m:r>
                              <m:r>
                                <a:rPr lang="it-IT" sz="16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it-IT" sz="16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it-IT" sz="1600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it-IT" sz="1600" i="1" dirty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  <a:ea typeface="Cambria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it-IT" sz="1600" i="1" dirty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  <a:ea typeface="Cambria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it-IT" sz="1600" i="1" dirty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  <a:ea typeface="Cambria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it-IT" sz="1600" i="1" dirty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  <a:ea typeface="Cambria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it-IT" sz="1600" i="1" dirty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  <a:ea typeface="Cambria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it-IT" sz="1600" i="1" dirty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  <a:ea typeface="Cambria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it-IT" sz="1600" i="1" dirty="0">
                                                  <a:solidFill>
                                                    <a:srgbClr val="0070C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it-IT" sz="1600" i="1" dirty="0">
                                                  <a:solidFill>
                                                    <a:srgbClr val="0070C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it-IT" sz="1600" i="1" dirty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  <a:ea typeface="Cambria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it-IT" sz="1600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ctrlPr>
                                <a:rPr lang="it-IT" sz="16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it-IT" sz="16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𝑖</m:t>
                              </m:r>
                              <m:r>
                                <a:rPr lang="it-IT" sz="16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=</m:t>
                              </m:r>
                              <m:r>
                                <a:rPr lang="it-IT" sz="16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it-IT" sz="16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it-IT" sz="1600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it-IT" sz="1600" i="1" dirty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  <a:ea typeface="Cambria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it-IT" sz="1600" i="1" dirty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  <a:ea typeface="Cambria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it-IT" sz="1600" i="1" dirty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  <a:ea typeface="Cambria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it-IT" sz="1600" i="1" dirty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  <a:ea typeface="Cambria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it-IT" sz="1600" i="1" dirty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  <a:ea typeface="Cambria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it-IT" sz="1600" i="1" dirty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  <a:ea typeface="Cambria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it-IT" sz="1600" i="1" dirty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  <a:ea typeface="Cambria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it-IT" sz="1600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it-IT" sz="1600" dirty="0">
                  <a:solidFill>
                    <a:srgbClr val="0070C0"/>
                  </a:solidFill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D5C66872-B395-24B8-DC46-0F5DCD2A81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851311"/>
                <a:ext cx="4320000" cy="1152047"/>
              </a:xfrm>
              <a:prstGeom prst="rect">
                <a:avLst/>
              </a:prstGeom>
              <a:blipFill>
                <a:blip r:embed="rId5"/>
                <a:stretch>
                  <a:fillRect t="-211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asellaDiTesto 15">
                <a:extLst>
                  <a:ext uri="{FF2B5EF4-FFF2-40B4-BE49-F238E27FC236}">
                    <a16:creationId xmlns:a16="http://schemas.microsoft.com/office/drawing/2014/main" id="{8EF322EF-3CC6-29C2-7CE2-6E6C37740154}"/>
                  </a:ext>
                </a:extLst>
              </p:cNvPr>
              <p:cNvSpPr txBox="1"/>
              <p:nvPr/>
            </p:nvSpPr>
            <p:spPr>
              <a:xfrm>
                <a:off x="6096000" y="3357685"/>
                <a:ext cx="4320000" cy="11520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t-IT" sz="16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Coefficent od </a:t>
                </a:r>
                <a:r>
                  <a:rPr lang="it-IT" sz="1600" b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Determination</a:t>
                </a:r>
                <a:r>
                  <a:rPr lang="it-IT" sz="16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– R2</a:t>
                </a:r>
              </a:p>
              <a:p>
                <a:pPr algn="ctr"/>
                <a:endParaRPr lang="it-IT" sz="1600" b="1" dirty="0">
                  <a:solidFill>
                    <a:srgbClr val="0070C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it-IT" sz="16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16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it-IT" sz="16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it-IT" sz="16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=</m:t>
                      </m:r>
                      <m:r>
                        <a:rPr lang="it-IT" sz="16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1</m:t>
                      </m:r>
                      <m:r>
                        <a:rPr lang="it-IT" sz="16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it-IT" sz="16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it-IT" sz="16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it-IT" sz="16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𝑖</m:t>
                              </m:r>
                              <m:r>
                                <a:rPr lang="it-IT" sz="16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=</m:t>
                              </m:r>
                              <m:r>
                                <a:rPr lang="it-IT" sz="16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it-IT" sz="16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it-IT" sz="1600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it-IT" sz="1600" i="1" dirty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  <a:ea typeface="Cambria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it-IT" sz="1600" i="1" dirty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  <a:ea typeface="Cambria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it-IT" sz="1600" i="1" dirty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  <a:ea typeface="Cambria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it-IT" sz="1600" i="1" dirty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  <a:ea typeface="Cambria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it-IT" sz="1600" i="1" dirty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  <a:ea typeface="Cambria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it-IT" sz="1600" i="1" dirty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  <a:ea typeface="Cambria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it-IT" sz="1600" i="1" dirty="0">
                                                  <a:solidFill>
                                                    <a:srgbClr val="0070C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it-IT" sz="1600" i="1" dirty="0">
                                                  <a:solidFill>
                                                    <a:srgbClr val="0070C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it-IT" sz="1600" i="1" dirty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  <a:ea typeface="Cambria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it-IT" sz="1600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ctrlPr>
                                <a:rPr lang="it-IT" sz="16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it-IT" sz="16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𝑖</m:t>
                              </m:r>
                              <m:r>
                                <a:rPr lang="it-IT" sz="16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=</m:t>
                              </m:r>
                              <m:r>
                                <a:rPr lang="it-IT" sz="16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it-IT" sz="16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it-IT" sz="1600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it-IT" sz="1600" i="1" dirty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  <a:ea typeface="Cambria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it-IT" sz="1600" i="1" dirty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  <a:ea typeface="Cambria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it-IT" sz="1600" i="1" dirty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  <a:ea typeface="Cambria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it-IT" sz="1600" i="1" dirty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  <a:ea typeface="Cambria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it-IT" sz="1600" i="1" dirty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  <a:ea typeface="Cambria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it-IT" sz="1600" i="1" dirty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  <a:ea typeface="Cambria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it-IT" sz="1600" i="1" dirty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  <a:ea typeface="Cambria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it-IT" sz="1600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it-IT" sz="800" dirty="0">
                  <a:solidFill>
                    <a:srgbClr val="0070C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CasellaDiTesto 15">
                <a:extLst>
                  <a:ext uri="{FF2B5EF4-FFF2-40B4-BE49-F238E27FC236}">
                    <a16:creationId xmlns:a16="http://schemas.microsoft.com/office/drawing/2014/main" id="{8EF322EF-3CC6-29C2-7CE2-6E6C377401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357685"/>
                <a:ext cx="4320000" cy="1152047"/>
              </a:xfrm>
              <a:prstGeom prst="rect">
                <a:avLst/>
              </a:prstGeom>
              <a:blipFill>
                <a:blip r:embed="rId6"/>
                <a:stretch>
                  <a:fillRect t="-211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12678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1191A-D7A1-25EE-8BC6-C42A7AB8D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Straight Connector 9">
            <a:extLst>
              <a:ext uri="{FF2B5EF4-FFF2-40B4-BE49-F238E27FC236}">
                <a16:creationId xmlns:a16="http://schemas.microsoft.com/office/drawing/2014/main" id="{FFA09B6B-123B-9C9C-9924-622B35D2E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0" name="Rectangle 11">
            <a:extLst>
              <a:ext uri="{FF2B5EF4-FFF2-40B4-BE49-F238E27FC236}">
                <a16:creationId xmlns:a16="http://schemas.microsoft.com/office/drawing/2014/main" id="{B9237E2F-D640-1A64-ABF7-DAF0B7F584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1" name="Rectangle 13">
            <a:extLst>
              <a:ext uri="{FF2B5EF4-FFF2-40B4-BE49-F238E27FC236}">
                <a16:creationId xmlns:a16="http://schemas.microsoft.com/office/drawing/2014/main" id="{4B952B47-0DF5-72BB-AFCE-634DB4CE2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Immagine 31">
            <a:extLst>
              <a:ext uri="{FF2B5EF4-FFF2-40B4-BE49-F238E27FC236}">
                <a16:creationId xmlns:a16="http://schemas.microsoft.com/office/drawing/2014/main" id="{91AE8A16-8914-4AAE-BD87-70A3F8D708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7708" y="1862101"/>
            <a:ext cx="5532904" cy="3064108"/>
          </a:xfrm>
          <a:prstGeom prst="rect">
            <a:avLst/>
          </a:prstGeom>
          <a:ln>
            <a:noFill/>
          </a:ln>
        </p:spPr>
      </p:pic>
      <p:cxnSp>
        <p:nvCxnSpPr>
          <p:cNvPr id="33" name="Connettore diritto 32">
            <a:extLst>
              <a:ext uri="{FF2B5EF4-FFF2-40B4-BE49-F238E27FC236}">
                <a16:creationId xmlns:a16="http://schemas.microsoft.com/office/drawing/2014/main" id="{BE93B709-F7BF-DBB6-A285-193B6413B618}"/>
              </a:ext>
            </a:extLst>
          </p:cNvPr>
          <p:cNvCxnSpPr>
            <a:cxnSpLocks/>
          </p:cNvCxnSpPr>
          <p:nvPr/>
        </p:nvCxnSpPr>
        <p:spPr>
          <a:xfrm>
            <a:off x="6116320" y="1842552"/>
            <a:ext cx="0" cy="317289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10533BA8-EC57-A1DB-4769-B9A1903F4CDD}"/>
              </a:ext>
            </a:extLst>
          </p:cNvPr>
          <p:cNvSpPr txBox="1"/>
          <p:nvPr/>
        </p:nvSpPr>
        <p:spPr>
          <a:xfrm>
            <a:off x="359215" y="1901438"/>
            <a:ext cx="5397890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b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PINNs</a:t>
            </a:r>
            <a:r>
              <a:rPr lang="it-IT" sz="32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vs ODE </a:t>
            </a:r>
            <a:r>
              <a:rPr lang="it-IT" sz="3200" b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Solvers</a:t>
            </a:r>
            <a:r>
              <a:rPr lang="it-IT" sz="32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3200" b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Numerical</a:t>
            </a:r>
            <a:r>
              <a:rPr lang="it-IT" sz="32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3200" b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Experiments</a:t>
            </a:r>
            <a:r>
              <a:rPr lang="it-IT" sz="32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Benchmark</a:t>
            </a:r>
          </a:p>
          <a:p>
            <a:pPr algn="ctr"/>
            <a:endParaRPr lang="it-IT" sz="3200" b="1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it-IT" sz="24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4.	Risultati</a:t>
            </a:r>
            <a:endParaRPr lang="it-IT" sz="2400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35" name="Connettore diritto 34">
            <a:extLst>
              <a:ext uri="{FF2B5EF4-FFF2-40B4-BE49-F238E27FC236}">
                <a16:creationId xmlns:a16="http://schemas.microsoft.com/office/drawing/2014/main" id="{10A048FA-4370-E15C-D0BD-EC641EBD124B}"/>
              </a:ext>
            </a:extLst>
          </p:cNvPr>
          <p:cNvCxnSpPr>
            <a:cxnSpLocks/>
          </p:cNvCxnSpPr>
          <p:nvPr/>
        </p:nvCxnSpPr>
        <p:spPr>
          <a:xfrm>
            <a:off x="0" y="6482080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6" name="Connettore diritto 35">
            <a:extLst>
              <a:ext uri="{FF2B5EF4-FFF2-40B4-BE49-F238E27FC236}">
                <a16:creationId xmlns:a16="http://schemas.microsoft.com/office/drawing/2014/main" id="{4B7F4E3B-C5E6-42A7-B4AB-AC9F0505CB53}"/>
              </a:ext>
            </a:extLst>
          </p:cNvPr>
          <p:cNvCxnSpPr>
            <a:cxnSpLocks/>
          </p:cNvCxnSpPr>
          <p:nvPr/>
        </p:nvCxnSpPr>
        <p:spPr>
          <a:xfrm>
            <a:off x="8592000" y="6482080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7" name="Connettore diritto 36">
            <a:extLst>
              <a:ext uri="{FF2B5EF4-FFF2-40B4-BE49-F238E27FC236}">
                <a16:creationId xmlns:a16="http://schemas.microsoft.com/office/drawing/2014/main" id="{230EDB92-FF0D-A4A9-4474-8DA690083978}"/>
              </a:ext>
            </a:extLst>
          </p:cNvPr>
          <p:cNvCxnSpPr>
            <a:cxnSpLocks/>
          </p:cNvCxnSpPr>
          <p:nvPr/>
        </p:nvCxnSpPr>
        <p:spPr>
          <a:xfrm>
            <a:off x="0" y="375919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8" name="Connettore diritto 37">
            <a:extLst>
              <a:ext uri="{FF2B5EF4-FFF2-40B4-BE49-F238E27FC236}">
                <a16:creationId xmlns:a16="http://schemas.microsoft.com/office/drawing/2014/main" id="{D5916382-5EF5-A435-D24D-0E649511C88F}"/>
              </a:ext>
            </a:extLst>
          </p:cNvPr>
          <p:cNvCxnSpPr>
            <a:cxnSpLocks/>
          </p:cNvCxnSpPr>
          <p:nvPr/>
        </p:nvCxnSpPr>
        <p:spPr>
          <a:xfrm>
            <a:off x="8592000" y="375919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413AB74B-4960-B7B9-A488-224EDC3F89DD}"/>
              </a:ext>
            </a:extLst>
          </p:cNvPr>
          <p:cNvSpPr txBox="1"/>
          <p:nvPr/>
        </p:nvSpPr>
        <p:spPr>
          <a:xfrm>
            <a:off x="8310452" y="-6587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</p:txBody>
      </p:sp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F95BF584-0BF8-4BFE-3703-AB61EB4B4131}"/>
              </a:ext>
            </a:extLst>
          </p:cNvPr>
          <p:cNvSpPr txBox="1"/>
          <p:nvPr/>
        </p:nvSpPr>
        <p:spPr>
          <a:xfrm>
            <a:off x="281549" y="6482080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</p:txBody>
      </p: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42166B19-5818-F616-3979-78BDE789441A}"/>
              </a:ext>
            </a:extLst>
          </p:cNvPr>
          <p:cNvSpPr txBox="1"/>
          <p:nvPr/>
        </p:nvSpPr>
        <p:spPr>
          <a:xfrm>
            <a:off x="281549" y="-6587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647499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9E017-0BFC-E524-FEF9-B04B4620D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9">
            <a:extLst>
              <a:ext uri="{FF2B5EF4-FFF2-40B4-BE49-F238E27FC236}">
                <a16:creationId xmlns:a16="http://schemas.microsoft.com/office/drawing/2014/main" id="{E77E22ED-7A4F-D246-AEC0-E1D1847346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" name="Rectangle 11">
            <a:extLst>
              <a:ext uri="{FF2B5EF4-FFF2-40B4-BE49-F238E27FC236}">
                <a16:creationId xmlns:a16="http://schemas.microsoft.com/office/drawing/2014/main" id="{C885B992-7A9B-D9E7-197D-D21788096D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" name="Rectangle 13">
            <a:extLst>
              <a:ext uri="{FF2B5EF4-FFF2-40B4-BE49-F238E27FC236}">
                <a16:creationId xmlns:a16="http://schemas.microsoft.com/office/drawing/2014/main" id="{6329B291-E743-3F01-CAC0-2F5E0F0686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5BC3C508-5257-F64D-6278-8D5CD5A23A2F}"/>
              </a:ext>
            </a:extLst>
          </p:cNvPr>
          <p:cNvCxnSpPr>
            <a:cxnSpLocks/>
          </p:cNvCxnSpPr>
          <p:nvPr/>
        </p:nvCxnSpPr>
        <p:spPr>
          <a:xfrm>
            <a:off x="0" y="6482080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0ED101B2-797B-6FF6-0C04-AF61CDC9A679}"/>
              </a:ext>
            </a:extLst>
          </p:cNvPr>
          <p:cNvCxnSpPr>
            <a:cxnSpLocks/>
          </p:cNvCxnSpPr>
          <p:nvPr/>
        </p:nvCxnSpPr>
        <p:spPr>
          <a:xfrm>
            <a:off x="8592000" y="6482080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4A099E7E-7441-8F9B-3F38-F2438C0DF6D3}"/>
              </a:ext>
            </a:extLst>
          </p:cNvPr>
          <p:cNvCxnSpPr>
            <a:cxnSpLocks/>
          </p:cNvCxnSpPr>
          <p:nvPr/>
        </p:nvCxnSpPr>
        <p:spPr>
          <a:xfrm>
            <a:off x="0" y="375919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7F6F1E8B-78E6-2B86-1DB4-222245287FDC}"/>
              </a:ext>
            </a:extLst>
          </p:cNvPr>
          <p:cNvCxnSpPr>
            <a:cxnSpLocks/>
          </p:cNvCxnSpPr>
          <p:nvPr/>
        </p:nvCxnSpPr>
        <p:spPr>
          <a:xfrm>
            <a:off x="8592000" y="375919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71E662C4-0C4F-8E37-2D70-766529546063}"/>
              </a:ext>
            </a:extLst>
          </p:cNvPr>
          <p:cNvSpPr txBox="1"/>
          <p:nvPr/>
        </p:nvSpPr>
        <p:spPr>
          <a:xfrm>
            <a:off x="281549" y="6488668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18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360CC125-820D-587F-46E2-9FB1EF954D9D}"/>
              </a:ext>
            </a:extLst>
          </p:cNvPr>
          <p:cNvSpPr txBox="1"/>
          <p:nvPr/>
        </p:nvSpPr>
        <p:spPr>
          <a:xfrm>
            <a:off x="8310452" y="6488668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Andrea Spinelli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5BDB717F-4EE5-64EA-D053-6ED86CCF8573}"/>
              </a:ext>
            </a:extLst>
          </p:cNvPr>
          <p:cNvSpPr txBox="1"/>
          <p:nvPr/>
        </p:nvSpPr>
        <p:spPr>
          <a:xfrm>
            <a:off x="7894320" y="-6587"/>
            <a:ext cx="4016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Dataset e </a:t>
            </a:r>
            <a:r>
              <a:rPr lang="it-IT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Pre</a:t>
            </a:r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-elaborazione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B9A6CCF2-1D62-6B5F-8EE2-03CADC214848}"/>
              </a:ext>
            </a:extLst>
          </p:cNvPr>
          <p:cNvSpPr txBox="1"/>
          <p:nvPr/>
        </p:nvSpPr>
        <p:spPr>
          <a:xfrm>
            <a:off x="281549" y="-6587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Risultati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CasellaDiTesto 17">
                <a:extLst>
                  <a:ext uri="{FF2B5EF4-FFF2-40B4-BE49-F238E27FC236}">
                    <a16:creationId xmlns:a16="http://schemas.microsoft.com/office/drawing/2014/main" id="{A25D0A04-4730-9E3B-CEF6-5D36DDEFEF7C}"/>
                  </a:ext>
                </a:extLst>
              </p:cNvPr>
              <p:cNvSpPr txBox="1"/>
              <p:nvPr/>
            </p:nvSpPr>
            <p:spPr>
              <a:xfrm>
                <a:off x="833119" y="738663"/>
                <a:ext cx="10645649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 algn="just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it-IT" sz="1600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Ogni soluzione numerica generata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it-IT" sz="16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accPr>
                      <m:e>
                        <m:r>
                          <a:rPr lang="it-IT" sz="16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it-IT" sz="16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(</m:t>
                    </m:r>
                    <m:r>
                      <a:rPr lang="it-IT" sz="16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𝑡</m:t>
                    </m:r>
                    <m:r>
                      <a:rPr lang="it-IT" sz="16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)</m:t>
                    </m:r>
                  </m:oMath>
                </a14:m>
                <a:r>
                  <a:rPr lang="it-IT" sz="1600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è stata confrontata con la soluzione di riferimento </a:t>
                </a:r>
                <a14:m>
                  <m:oMath xmlns:m="http://schemas.openxmlformats.org/officeDocument/2006/math">
                    <m:r>
                      <a:rPr lang="it-IT" sz="16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𝑦</m:t>
                    </m:r>
                    <m:r>
                      <a:rPr lang="it-IT" sz="16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(</m:t>
                    </m:r>
                    <m:r>
                      <a:rPr lang="it-IT" sz="16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𝑡</m:t>
                    </m:r>
                    <m:r>
                      <a:rPr lang="it-IT" sz="16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)</m:t>
                    </m:r>
                  </m:oMath>
                </a14:m>
                <a:r>
                  <a:rPr lang="it-IT" sz="1600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(ottenuta dai dataset </a:t>
                </a:r>
                <a:r>
                  <a:rPr lang="it-IT" sz="1600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pre</a:t>
                </a:r>
                <a:r>
                  <a:rPr lang="it-IT" sz="1600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-elaborati) su un insieme discreto di </a:t>
                </a:r>
                <a:r>
                  <a:rPr lang="it-IT" sz="1600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N</a:t>
                </a:r>
                <a:r>
                  <a:rPr lang="it-IT" sz="1600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punti temporali. </a:t>
                </a:r>
              </a:p>
            </p:txBody>
          </p:sp>
        </mc:Choice>
        <mc:Fallback>
          <p:sp>
            <p:nvSpPr>
              <p:cNvPr id="18" name="CasellaDiTesto 17">
                <a:extLst>
                  <a:ext uri="{FF2B5EF4-FFF2-40B4-BE49-F238E27FC236}">
                    <a16:creationId xmlns:a16="http://schemas.microsoft.com/office/drawing/2014/main" id="{A25D0A04-4730-9E3B-CEF6-5D36DDEFEF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119" y="738663"/>
                <a:ext cx="10645649" cy="584775"/>
              </a:xfrm>
              <a:prstGeom prst="rect">
                <a:avLst/>
              </a:prstGeom>
              <a:blipFill>
                <a:blip r:embed="rId2"/>
                <a:stretch>
                  <a:fillRect l="-229" t="-4167" r="-745" b="-1145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Immagine 9">
            <a:extLst>
              <a:ext uri="{FF2B5EF4-FFF2-40B4-BE49-F238E27FC236}">
                <a16:creationId xmlns:a16="http://schemas.microsoft.com/office/drawing/2014/main" id="{BE369043-B46A-9AF5-D88A-74F2064A51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9207" y="1323438"/>
            <a:ext cx="8193586" cy="5114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8246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09313-F097-A087-BDAC-C27A5539A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9">
            <a:extLst>
              <a:ext uri="{FF2B5EF4-FFF2-40B4-BE49-F238E27FC236}">
                <a16:creationId xmlns:a16="http://schemas.microsoft.com/office/drawing/2014/main" id="{E1F38F5D-A864-1C12-9843-1750ED2F48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" name="Rectangle 11">
            <a:extLst>
              <a:ext uri="{FF2B5EF4-FFF2-40B4-BE49-F238E27FC236}">
                <a16:creationId xmlns:a16="http://schemas.microsoft.com/office/drawing/2014/main" id="{B9E81B62-9056-1CF7-6953-740F03306A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" name="Rectangle 13">
            <a:extLst>
              <a:ext uri="{FF2B5EF4-FFF2-40B4-BE49-F238E27FC236}">
                <a16:creationId xmlns:a16="http://schemas.microsoft.com/office/drawing/2014/main" id="{95C5F2CA-F5F0-D66D-1EC6-4BBBD9880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485BA3AE-7CD4-AFFC-95AE-62F352BAEE2F}"/>
              </a:ext>
            </a:extLst>
          </p:cNvPr>
          <p:cNvCxnSpPr>
            <a:cxnSpLocks/>
          </p:cNvCxnSpPr>
          <p:nvPr/>
        </p:nvCxnSpPr>
        <p:spPr>
          <a:xfrm>
            <a:off x="0" y="6482080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2A3B5701-4A28-98F7-5B5C-10D186F5A94C}"/>
              </a:ext>
            </a:extLst>
          </p:cNvPr>
          <p:cNvCxnSpPr>
            <a:cxnSpLocks/>
          </p:cNvCxnSpPr>
          <p:nvPr/>
        </p:nvCxnSpPr>
        <p:spPr>
          <a:xfrm>
            <a:off x="8592000" y="6482080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DBEBE2CC-89B1-FAB6-2513-50AA71E9577E}"/>
              </a:ext>
            </a:extLst>
          </p:cNvPr>
          <p:cNvCxnSpPr>
            <a:cxnSpLocks/>
          </p:cNvCxnSpPr>
          <p:nvPr/>
        </p:nvCxnSpPr>
        <p:spPr>
          <a:xfrm>
            <a:off x="0" y="375919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ECF3DF81-7FAE-6D2A-D67F-F59EF18FF164}"/>
              </a:ext>
            </a:extLst>
          </p:cNvPr>
          <p:cNvCxnSpPr>
            <a:cxnSpLocks/>
          </p:cNvCxnSpPr>
          <p:nvPr/>
        </p:nvCxnSpPr>
        <p:spPr>
          <a:xfrm>
            <a:off x="8592000" y="375919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7EFFFD6D-9F35-4D2B-3CF1-76E1651E350A}"/>
              </a:ext>
            </a:extLst>
          </p:cNvPr>
          <p:cNvSpPr txBox="1"/>
          <p:nvPr/>
        </p:nvSpPr>
        <p:spPr>
          <a:xfrm>
            <a:off x="281549" y="6488668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19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9B47D6DD-C176-106F-304B-73AF08A96E69}"/>
              </a:ext>
            </a:extLst>
          </p:cNvPr>
          <p:cNvSpPr txBox="1"/>
          <p:nvPr/>
        </p:nvSpPr>
        <p:spPr>
          <a:xfrm>
            <a:off x="8310452" y="6488668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Andrea Spinelli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728C1A51-9BF8-B0D1-5534-BF602EF7270D}"/>
              </a:ext>
            </a:extLst>
          </p:cNvPr>
          <p:cNvSpPr txBox="1"/>
          <p:nvPr/>
        </p:nvSpPr>
        <p:spPr>
          <a:xfrm>
            <a:off x="7894320" y="-6587"/>
            <a:ext cx="4016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Benchmark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DA6DCA28-BEF5-9636-19B1-35E6CE11995B}"/>
              </a:ext>
            </a:extLst>
          </p:cNvPr>
          <p:cNvSpPr txBox="1"/>
          <p:nvPr/>
        </p:nvSpPr>
        <p:spPr>
          <a:xfrm>
            <a:off x="281549" y="-6587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Risultati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714544A3-51D4-D099-DBF1-78FA00E1BB04}"/>
                  </a:ext>
                </a:extLst>
              </p:cNvPr>
              <p:cNvSpPr txBox="1"/>
              <p:nvPr/>
            </p:nvSpPr>
            <p:spPr>
              <a:xfrm>
                <a:off x="833119" y="738663"/>
                <a:ext cx="10645649" cy="9079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 algn="just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it-IT" sz="1600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Ogni soluzione numerica generata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it-IT" sz="16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accPr>
                      <m:e>
                        <m:r>
                          <a:rPr lang="it-IT" sz="16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it-IT" sz="16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(</m:t>
                    </m:r>
                    <m:r>
                      <a:rPr lang="it-IT" sz="16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𝑡</m:t>
                    </m:r>
                    <m:r>
                      <a:rPr lang="it-IT" sz="16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)</m:t>
                    </m:r>
                  </m:oMath>
                </a14:m>
                <a:r>
                  <a:rPr lang="it-IT" sz="1600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è stata confrontata con la soluzione di riferimento </a:t>
                </a:r>
                <a14:m>
                  <m:oMath xmlns:m="http://schemas.openxmlformats.org/officeDocument/2006/math">
                    <m:r>
                      <a:rPr lang="it-IT" sz="16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𝑦</m:t>
                    </m:r>
                    <m:r>
                      <a:rPr lang="it-IT" sz="16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(</m:t>
                    </m:r>
                    <m:r>
                      <a:rPr lang="it-IT" sz="16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𝑡</m:t>
                    </m:r>
                    <m:r>
                      <a:rPr lang="it-IT" sz="16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)</m:t>
                    </m:r>
                  </m:oMath>
                </a14:m>
                <a:r>
                  <a:rPr lang="it-IT" sz="1600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(ottenuta dai dataset </a:t>
                </a:r>
                <a:r>
                  <a:rPr lang="it-IT" sz="1600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pre</a:t>
                </a:r>
                <a:r>
                  <a:rPr lang="it-IT" sz="1600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-elaborati) su un insieme discreto di </a:t>
                </a:r>
                <a:r>
                  <a:rPr lang="it-IT" sz="1600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N</a:t>
                </a:r>
                <a:r>
                  <a:rPr lang="it-IT" sz="1600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punti temporali. </a:t>
                </a:r>
              </a:p>
              <a:p>
                <a:pPr marL="285750" indent="-285750" algn="just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it-IT" sz="1600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Le seguenti metriche sono state adottate per quantificare l’errore:</a:t>
                </a:r>
              </a:p>
            </p:txBody>
          </p:sp>
        </mc:Choice>
        <mc:Fallback xmlns="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714544A3-51D4-D099-DBF1-78FA00E1BB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119" y="738663"/>
                <a:ext cx="10645649" cy="907941"/>
              </a:xfrm>
              <a:prstGeom prst="rect">
                <a:avLst/>
              </a:prstGeom>
              <a:blipFill>
                <a:blip r:embed="rId2"/>
                <a:stretch>
                  <a:fillRect l="-229" t="-2685" r="-745" b="-738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6990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C4106-AFF9-81B4-F423-EAB7F6D64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Straight Connector 9">
            <a:extLst>
              <a:ext uri="{FF2B5EF4-FFF2-40B4-BE49-F238E27FC236}">
                <a16:creationId xmlns:a16="http://schemas.microsoft.com/office/drawing/2014/main" id="{53F9D3A8-CE8E-5354-CD14-B75D8CC622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0" name="Rectangle 11">
            <a:extLst>
              <a:ext uri="{FF2B5EF4-FFF2-40B4-BE49-F238E27FC236}">
                <a16:creationId xmlns:a16="http://schemas.microsoft.com/office/drawing/2014/main" id="{23D160E4-11BE-023D-961F-C15F0292A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1" name="Rectangle 13">
            <a:extLst>
              <a:ext uri="{FF2B5EF4-FFF2-40B4-BE49-F238E27FC236}">
                <a16:creationId xmlns:a16="http://schemas.microsoft.com/office/drawing/2014/main" id="{9B486525-8C1E-791A-9613-7D72CFECA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Immagine 31">
            <a:extLst>
              <a:ext uri="{FF2B5EF4-FFF2-40B4-BE49-F238E27FC236}">
                <a16:creationId xmlns:a16="http://schemas.microsoft.com/office/drawing/2014/main" id="{1DB59B06-7EB2-92C2-1B33-EABB9F8346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7708" y="1862101"/>
            <a:ext cx="5532904" cy="3064108"/>
          </a:xfrm>
          <a:prstGeom prst="rect">
            <a:avLst/>
          </a:prstGeom>
          <a:ln>
            <a:noFill/>
          </a:ln>
        </p:spPr>
      </p:pic>
      <p:cxnSp>
        <p:nvCxnSpPr>
          <p:cNvPr id="33" name="Connettore diritto 32">
            <a:extLst>
              <a:ext uri="{FF2B5EF4-FFF2-40B4-BE49-F238E27FC236}">
                <a16:creationId xmlns:a16="http://schemas.microsoft.com/office/drawing/2014/main" id="{4D9AD99E-2ED7-B734-30AA-8C2B99457704}"/>
              </a:ext>
            </a:extLst>
          </p:cNvPr>
          <p:cNvCxnSpPr>
            <a:cxnSpLocks/>
          </p:cNvCxnSpPr>
          <p:nvPr/>
        </p:nvCxnSpPr>
        <p:spPr>
          <a:xfrm>
            <a:off x="6116320" y="1842552"/>
            <a:ext cx="0" cy="317289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00858A53-75EE-F227-F2F1-224C4CB2A41C}"/>
              </a:ext>
            </a:extLst>
          </p:cNvPr>
          <p:cNvSpPr txBox="1"/>
          <p:nvPr/>
        </p:nvSpPr>
        <p:spPr>
          <a:xfrm>
            <a:off x="359215" y="1901438"/>
            <a:ext cx="5397890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b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PINNs</a:t>
            </a:r>
            <a:r>
              <a:rPr lang="it-IT" sz="32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vs ODE </a:t>
            </a:r>
            <a:r>
              <a:rPr lang="it-IT" sz="3200" b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Solvers</a:t>
            </a:r>
            <a:r>
              <a:rPr lang="it-IT" sz="32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3200" b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Numerical</a:t>
            </a:r>
            <a:r>
              <a:rPr lang="it-IT" sz="32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3200" b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Experiments</a:t>
            </a:r>
            <a:r>
              <a:rPr lang="it-IT" sz="32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Benchmark</a:t>
            </a:r>
          </a:p>
          <a:p>
            <a:pPr algn="ctr"/>
            <a:endParaRPr lang="it-IT" sz="3200" b="1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it-IT" sz="24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5.	Conclusioni</a:t>
            </a:r>
            <a:endParaRPr lang="it-IT" sz="2400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35" name="Connettore diritto 34">
            <a:extLst>
              <a:ext uri="{FF2B5EF4-FFF2-40B4-BE49-F238E27FC236}">
                <a16:creationId xmlns:a16="http://schemas.microsoft.com/office/drawing/2014/main" id="{E50C7453-7D17-5335-C0AC-7567301C5AF2}"/>
              </a:ext>
            </a:extLst>
          </p:cNvPr>
          <p:cNvCxnSpPr>
            <a:cxnSpLocks/>
          </p:cNvCxnSpPr>
          <p:nvPr/>
        </p:nvCxnSpPr>
        <p:spPr>
          <a:xfrm>
            <a:off x="0" y="6482080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6" name="Connettore diritto 35">
            <a:extLst>
              <a:ext uri="{FF2B5EF4-FFF2-40B4-BE49-F238E27FC236}">
                <a16:creationId xmlns:a16="http://schemas.microsoft.com/office/drawing/2014/main" id="{DEA9FA27-DF1C-D2C2-C9CD-B0A60626CF43}"/>
              </a:ext>
            </a:extLst>
          </p:cNvPr>
          <p:cNvCxnSpPr>
            <a:cxnSpLocks/>
          </p:cNvCxnSpPr>
          <p:nvPr/>
        </p:nvCxnSpPr>
        <p:spPr>
          <a:xfrm>
            <a:off x="8592000" y="6482080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7" name="Connettore diritto 36">
            <a:extLst>
              <a:ext uri="{FF2B5EF4-FFF2-40B4-BE49-F238E27FC236}">
                <a16:creationId xmlns:a16="http://schemas.microsoft.com/office/drawing/2014/main" id="{2735FE71-3E08-8645-5E8A-EEE11B5EF081}"/>
              </a:ext>
            </a:extLst>
          </p:cNvPr>
          <p:cNvCxnSpPr>
            <a:cxnSpLocks/>
          </p:cNvCxnSpPr>
          <p:nvPr/>
        </p:nvCxnSpPr>
        <p:spPr>
          <a:xfrm>
            <a:off x="0" y="375919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8" name="Connettore diritto 37">
            <a:extLst>
              <a:ext uri="{FF2B5EF4-FFF2-40B4-BE49-F238E27FC236}">
                <a16:creationId xmlns:a16="http://schemas.microsoft.com/office/drawing/2014/main" id="{8067B0FE-A74E-E87C-98A0-F0EC81FCEE50}"/>
              </a:ext>
            </a:extLst>
          </p:cNvPr>
          <p:cNvCxnSpPr>
            <a:cxnSpLocks/>
          </p:cNvCxnSpPr>
          <p:nvPr/>
        </p:nvCxnSpPr>
        <p:spPr>
          <a:xfrm>
            <a:off x="8592000" y="375919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A2BF2BDF-438E-23CF-A9CC-E59D78ACF9AA}"/>
              </a:ext>
            </a:extLst>
          </p:cNvPr>
          <p:cNvSpPr txBox="1"/>
          <p:nvPr/>
        </p:nvSpPr>
        <p:spPr>
          <a:xfrm>
            <a:off x="8310452" y="-6587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</p:txBody>
      </p:sp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0FF866E3-C9B2-EEBC-39B9-49EC31FF024D}"/>
              </a:ext>
            </a:extLst>
          </p:cNvPr>
          <p:cNvSpPr txBox="1"/>
          <p:nvPr/>
        </p:nvSpPr>
        <p:spPr>
          <a:xfrm>
            <a:off x="281549" y="6482080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</p:txBody>
      </p: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6A7359E8-CD35-F896-DC9D-91DD0B9C31BC}"/>
              </a:ext>
            </a:extLst>
          </p:cNvPr>
          <p:cNvSpPr txBox="1"/>
          <p:nvPr/>
        </p:nvSpPr>
        <p:spPr>
          <a:xfrm>
            <a:off x="281549" y="-6587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746777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F2879-BCA3-6140-7B05-EAEB2C38C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9">
            <a:extLst>
              <a:ext uri="{FF2B5EF4-FFF2-40B4-BE49-F238E27FC236}">
                <a16:creationId xmlns:a16="http://schemas.microsoft.com/office/drawing/2014/main" id="{6BFE5A5F-8F6A-FF7A-536F-FC61B262D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" name="Rectangle 11">
            <a:extLst>
              <a:ext uri="{FF2B5EF4-FFF2-40B4-BE49-F238E27FC236}">
                <a16:creationId xmlns:a16="http://schemas.microsoft.com/office/drawing/2014/main" id="{72400490-DB03-E055-3E57-8FA56FE737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" name="Rectangle 13">
            <a:extLst>
              <a:ext uri="{FF2B5EF4-FFF2-40B4-BE49-F238E27FC236}">
                <a16:creationId xmlns:a16="http://schemas.microsoft.com/office/drawing/2014/main" id="{E084A64B-F445-A094-B0FA-13E0577B7E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67C8B664-2FD3-53C0-058D-FC109194E944}"/>
              </a:ext>
            </a:extLst>
          </p:cNvPr>
          <p:cNvCxnSpPr>
            <a:cxnSpLocks/>
          </p:cNvCxnSpPr>
          <p:nvPr/>
        </p:nvCxnSpPr>
        <p:spPr>
          <a:xfrm>
            <a:off x="0" y="6482080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74939BA0-5FE6-BDBA-142A-443EB3FFBE28}"/>
              </a:ext>
            </a:extLst>
          </p:cNvPr>
          <p:cNvCxnSpPr>
            <a:cxnSpLocks/>
          </p:cNvCxnSpPr>
          <p:nvPr/>
        </p:nvCxnSpPr>
        <p:spPr>
          <a:xfrm>
            <a:off x="8592000" y="6482080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838FF484-4D6E-BCA9-F574-F0B10A38BB45}"/>
              </a:ext>
            </a:extLst>
          </p:cNvPr>
          <p:cNvCxnSpPr>
            <a:cxnSpLocks/>
          </p:cNvCxnSpPr>
          <p:nvPr/>
        </p:nvCxnSpPr>
        <p:spPr>
          <a:xfrm>
            <a:off x="0" y="375919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5481539B-2F73-7747-93CC-583575403E6B}"/>
              </a:ext>
            </a:extLst>
          </p:cNvPr>
          <p:cNvCxnSpPr>
            <a:cxnSpLocks/>
          </p:cNvCxnSpPr>
          <p:nvPr/>
        </p:nvCxnSpPr>
        <p:spPr>
          <a:xfrm>
            <a:off x="8592000" y="375919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1C2CCE3-8D4A-2E8F-2374-2DFC4AC2C9AA}"/>
              </a:ext>
            </a:extLst>
          </p:cNvPr>
          <p:cNvSpPr txBox="1"/>
          <p:nvPr/>
        </p:nvSpPr>
        <p:spPr>
          <a:xfrm>
            <a:off x="281549" y="6488668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20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BCCBC475-EC04-AD04-FE69-662E4705F21E}"/>
              </a:ext>
            </a:extLst>
          </p:cNvPr>
          <p:cNvSpPr txBox="1"/>
          <p:nvPr/>
        </p:nvSpPr>
        <p:spPr>
          <a:xfrm>
            <a:off x="8310452" y="6488668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Andrea Spinelli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6B897F13-DAB7-FBCA-53D0-C32EAD117B9B}"/>
              </a:ext>
            </a:extLst>
          </p:cNvPr>
          <p:cNvSpPr txBox="1"/>
          <p:nvPr/>
        </p:nvSpPr>
        <p:spPr>
          <a:xfrm>
            <a:off x="7894320" y="-6587"/>
            <a:ext cx="4016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xxx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D081E40F-B134-6815-C55E-1F26C58AF39F}"/>
              </a:ext>
            </a:extLst>
          </p:cNvPr>
          <p:cNvSpPr txBox="1"/>
          <p:nvPr/>
        </p:nvSpPr>
        <p:spPr>
          <a:xfrm>
            <a:off x="281549" y="-6587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Conclusioni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sellaDiTesto 17">
                <a:extLst>
                  <a:ext uri="{FF2B5EF4-FFF2-40B4-BE49-F238E27FC236}">
                    <a16:creationId xmlns:a16="http://schemas.microsoft.com/office/drawing/2014/main" id="{3FAD88DA-0C80-3F6C-4C7F-76B4A03EC9AA}"/>
                  </a:ext>
                </a:extLst>
              </p:cNvPr>
              <p:cNvSpPr txBox="1"/>
              <p:nvPr/>
            </p:nvSpPr>
            <p:spPr>
              <a:xfrm>
                <a:off x="833119" y="738663"/>
                <a:ext cx="10645649" cy="9079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 algn="just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it-IT" sz="1600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Ogni soluzione numerica generata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it-IT" sz="16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accPr>
                      <m:e>
                        <m:r>
                          <a:rPr lang="it-IT" sz="16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it-IT" sz="16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(</m:t>
                    </m:r>
                    <m:r>
                      <a:rPr lang="it-IT" sz="16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𝑡</m:t>
                    </m:r>
                    <m:r>
                      <a:rPr lang="it-IT" sz="16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)</m:t>
                    </m:r>
                  </m:oMath>
                </a14:m>
                <a:r>
                  <a:rPr lang="it-IT" sz="1600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è stata confrontata con la soluzione di riferimento </a:t>
                </a:r>
                <a14:m>
                  <m:oMath xmlns:m="http://schemas.openxmlformats.org/officeDocument/2006/math">
                    <m:r>
                      <a:rPr lang="it-IT" sz="16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𝑦</m:t>
                    </m:r>
                    <m:r>
                      <a:rPr lang="it-IT" sz="16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(</m:t>
                    </m:r>
                    <m:r>
                      <a:rPr lang="it-IT" sz="16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𝑡</m:t>
                    </m:r>
                    <m:r>
                      <a:rPr lang="it-IT" sz="16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)</m:t>
                    </m:r>
                  </m:oMath>
                </a14:m>
                <a:r>
                  <a:rPr lang="it-IT" sz="1600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(ottenuta dai dataset </a:t>
                </a:r>
                <a:r>
                  <a:rPr lang="it-IT" sz="1600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pre</a:t>
                </a:r>
                <a:r>
                  <a:rPr lang="it-IT" sz="1600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-elaborati) su un insieme discreto di </a:t>
                </a:r>
                <a:r>
                  <a:rPr lang="it-IT" sz="1600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N</a:t>
                </a:r>
                <a:r>
                  <a:rPr lang="it-IT" sz="1600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punti temporali. </a:t>
                </a:r>
              </a:p>
              <a:p>
                <a:pPr marL="285750" indent="-285750" algn="just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it-IT" sz="1600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Le seguenti metriche sono state adottate per quantificare l’errore:</a:t>
                </a:r>
              </a:p>
            </p:txBody>
          </p:sp>
        </mc:Choice>
        <mc:Fallback xmlns="">
          <p:sp>
            <p:nvSpPr>
              <p:cNvPr id="18" name="CasellaDiTesto 17">
                <a:extLst>
                  <a:ext uri="{FF2B5EF4-FFF2-40B4-BE49-F238E27FC236}">
                    <a16:creationId xmlns:a16="http://schemas.microsoft.com/office/drawing/2014/main" id="{3FAD88DA-0C80-3F6C-4C7F-76B4A03EC9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119" y="738663"/>
                <a:ext cx="10645649" cy="907941"/>
              </a:xfrm>
              <a:prstGeom prst="rect">
                <a:avLst/>
              </a:prstGeom>
              <a:blipFill>
                <a:blip r:embed="rId2"/>
                <a:stretch>
                  <a:fillRect l="-229" t="-2685" r="-745" b="-738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4363187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TM04033927[[fn=Evento]]</Template>
  <TotalTime>3800</TotalTime>
  <Words>1717</Words>
  <Application>Microsoft Office PowerPoint</Application>
  <PresentationFormat>Widescreen</PresentationFormat>
  <Paragraphs>237</Paragraphs>
  <Slides>22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22</vt:i4>
      </vt:variant>
    </vt:vector>
  </HeadingPairs>
  <TitlesOfParts>
    <vt:vector size="30" baseType="lpstr">
      <vt:lpstr>Aptos</vt:lpstr>
      <vt:lpstr>Arial</vt:lpstr>
      <vt:lpstr>Cambria</vt:lpstr>
      <vt:lpstr>Cambria Math</vt:lpstr>
      <vt:lpstr>Consolas</vt:lpstr>
      <vt:lpstr>Courier New</vt:lpstr>
      <vt:lpstr>Grandview Display</vt:lpstr>
      <vt:lpstr>DashVTI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Argonaut Astra</dc:creator>
  <cp:lastModifiedBy>ANDREA SPINELLI</cp:lastModifiedBy>
  <cp:revision>37</cp:revision>
  <dcterms:created xsi:type="dcterms:W3CDTF">2025-04-02T14:45:54Z</dcterms:created>
  <dcterms:modified xsi:type="dcterms:W3CDTF">2025-12-04T10:06:01Z</dcterms:modified>
</cp:coreProperties>
</file>